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99ece57c9441f3" /><Relationship Type="http://schemas.openxmlformats.org/officeDocument/2006/relationships/extended-properties" Target="/docProps/app.xml" Id="Rbab58016a00d49d1" /><Relationship Type="http://schemas.openxmlformats.org/officeDocument/2006/relationships/officeDocument" Target="/ppt/presentation.xml" Id="R87f812d80e394475" /></Relationships>
</file>

<file path=ppt/presentation.xml><?xml version="1.0" encoding="utf-8"?>
<p:presentation xmlns:p="http://schemas.openxmlformats.org/presentationml/2006/main">
  <p:sldMasterIdLst>
    <p:sldMasterId xmlns:r="http://schemas.openxmlformats.org/officeDocument/2006/relationships" id="2147483648" r:id="Ra40f6bd09e5b4a69"/>
  </p:sldMasterIdLst>
  <p:notesMasterIdLst>
    <p:notesMasterId xmlns:r="http://schemas.openxmlformats.org/officeDocument/2006/relationships" r:id="Raf6215d38c964c8c"/>
  </p:notesMasterIdLst>
  <p:sldIdLst>
    <p:sldId xmlns:r="http://schemas.openxmlformats.org/officeDocument/2006/relationships" id="256" r:id="R9ebf80b1963d4c1a"/>
    <p:sldId xmlns:r="http://schemas.openxmlformats.org/officeDocument/2006/relationships" id="257" r:id="Rdfcdbaa1bb724831"/>
    <p:sldId xmlns:r="http://schemas.openxmlformats.org/officeDocument/2006/relationships" id="258" r:id="Recf180170e444d13"/>
    <p:sldId xmlns:r="http://schemas.openxmlformats.org/officeDocument/2006/relationships" id="259" r:id="Rb5f326a99cc14c19"/>
    <p:sldId xmlns:r="http://schemas.openxmlformats.org/officeDocument/2006/relationships" id="260" r:id="R9fec23e722e04d58"/>
    <p:sldId xmlns:r="http://schemas.openxmlformats.org/officeDocument/2006/relationships" id="261" r:id="Rc71da07ae7554e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8107b7ac4b444c" /><Relationship Type="http://schemas.openxmlformats.org/officeDocument/2006/relationships/slideMaster" Target="/ppt/slideMasters/slideMaster1.xml" Id="Ra40f6bd09e5b4a69" /><Relationship Type="http://schemas.openxmlformats.org/officeDocument/2006/relationships/notesMaster" Target="/ppt/notesMasters/notesMaster1.xml" Id="Raf6215d38c964c8c" /><Relationship Type="http://schemas.openxmlformats.org/officeDocument/2006/relationships/presProps" Target="/ppt/presProps.xml" Id="R317cbaa067604130" /><Relationship Type="http://schemas.openxmlformats.org/officeDocument/2006/relationships/tableStyles" Target="/ppt/tableStyles.xml" Id="R82a3b3f53ea94ed0" /><Relationship Type="http://schemas.openxmlformats.org/officeDocument/2006/relationships/slide" Target="/ppt/slides/slide1.xml" Id="R9ebf80b1963d4c1a" /><Relationship Type="http://schemas.openxmlformats.org/officeDocument/2006/relationships/slide" Target="/ppt/slides/slide2.xml" Id="Rdfcdbaa1bb724831" /><Relationship Type="http://schemas.openxmlformats.org/officeDocument/2006/relationships/slide" Target="/ppt/slides/slide3.xml" Id="Recf180170e444d13" /><Relationship Type="http://schemas.openxmlformats.org/officeDocument/2006/relationships/slide" Target="/ppt/slides/slide4.xml" Id="Rb5f326a99cc14c19" /><Relationship Type="http://schemas.openxmlformats.org/officeDocument/2006/relationships/slide" Target="/ppt/slides/slide5.xml" Id="R9fec23e722e04d58" /><Relationship Type="http://schemas.openxmlformats.org/officeDocument/2006/relationships/slide" Target="/ppt/slides/slide6.xml" Id="Rc71da07ae7554e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e979002bba41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a4f666e2f141bc" /><Relationship Type="http://schemas.openxmlformats.org/officeDocument/2006/relationships/notesMaster" Target="/ppt/notesMasters/notesMaster1.xml" Id="R848e993ec06343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bffe7941e1417a" /><Relationship Type="http://schemas.openxmlformats.org/officeDocument/2006/relationships/notesMaster" Target="/ppt/notesMasters/notesMaster1.xml" Id="R216bdfce07da44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827766e68642aa" /><Relationship Type="http://schemas.openxmlformats.org/officeDocument/2006/relationships/notesMaster" Target="/ppt/notesMasters/notesMaster1.xml" Id="Rb37c081268e648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f69480b9614663" /><Relationship Type="http://schemas.openxmlformats.org/officeDocument/2006/relationships/notesMaster" Target="/ppt/notesMasters/notesMaster1.xml" Id="Rfca97a531a1e40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4c4bec99434ae3" /><Relationship Type="http://schemas.openxmlformats.org/officeDocument/2006/relationships/notesMaster" Target="/ppt/notesMasters/notesMaster1.xml" Id="Re961597033714c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1d0557a97741f4" /><Relationship Type="http://schemas.openxmlformats.org/officeDocument/2006/relationships/notesMaster" Target="/ppt/notesMasters/notesMaster1.xml" Id="Rb897581700354e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is a practical introduction to the HL7 Australia Inferno Test Kits.</a:t>
            </a:r>
          </a:p>
          <a:p xmlns:a="http://schemas.openxmlformats.org/drawingml/2006/main">
            <a:r>
              <a:t/>
            </a:r>
          </a:p>
          <a:p xmlns:a="http://schemas.openxmlformats.org/drawingml/2006/main">
            <a:r>
              <a:t>In the next fourteen minutes I will validate an AU Patient Summary Bundle, test an AU Core server, and show you how to turn a red result into something you can fix or report.</a:t>
            </a:r>
          </a:p>
          <a:p xmlns:a="http://schemas.openxmlformats.org/drawingml/2006/main">
            <a:r>
              <a:t/>
            </a:r>
          </a:p>
          <a:p xmlns:a="http://schemas.openxmlformats.org/drawingml/2006/main">
            <a:r>
              <a:t>Source: https://inferno.hl7.org.au/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acknowledge the Traditional Custodians of the land on which we meet and work. We pay our respects to Elders past and present, and extend that respect to all Aboriginal and Torres Strait Islander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Inferno turns requirements from a FHIR implementation guide into automated checks.</a:t>
            </a:r>
          </a:p>
          <a:p xmlns:a="http://schemas.openxmlformats.org/drawingml/2006/main">
            <a:r>
              <a:t/>
            </a:r>
          </a:p>
          <a:p xmlns:a="http://schemas.openxmlformats.org/drawingml/2006/main">
            <a:r>
              <a:t>Use the AU Patient Summary kit when you have a patient summary Bundle, or a server that serves or generates one. Use the AU Core kit when you operate a FHIR server that other systems query.</a:t>
            </a:r>
          </a:p>
          <a:p xmlns:a="http://schemas.openxmlformats.org/drawingml/2006/main">
            <a:r>
              <a:t/>
            </a:r>
          </a:p>
          <a:p xmlns:a="http://schemas.openxmlformats.org/drawingml/2006/main">
            <a:r>
              <a:t>These are community reference tests. They help you find implementation problems, but they do not provide certification or confer conformance status.</a:t>
            </a:r>
          </a:p>
          <a:p xmlns:a="http://schemas.openxmlformats.org/drawingml/2006/main">
            <a:r>
              <a:t/>
            </a:r>
          </a:p>
          <a:p xmlns:a="http://schemas.openxmlformats.org/drawingml/2006/main">
            <a:r>
              <a:t>Sources: https://inferno.hl7.org.au/about/ and planned guidance copy in hl7au/au-fhir-inferno PR 203.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words make the interface much easier to read.</a:t>
            </a:r>
          </a:p>
          <a:p xmlns:a="http://schemas.openxmlformats.org/drawingml/2006/main">
            <a:r>
              <a:t/>
            </a:r>
          </a:p>
          <a:p xmlns:a="http://schemas.openxmlformats.org/drawingml/2006/main">
            <a:r>
              <a:t>A test kit covers a use case or implementation guide. A suite represents one version of that guide. A suite contains groups, usually one profile or one way of obtaining a document. Each group contains the individual tests that pass, fail, skip, omit, or error.</a:t>
            </a:r>
          </a:p>
          <a:p xmlns:a="http://schemas.openxmlformats.org/drawingml/2006/main">
            <a:r>
              <a:t/>
            </a:r>
          </a:p>
          <a:p xmlns:a="http://schemas.openxmlformats.org/drawingml/2006/main">
            <a:r>
              <a:t>While fixing an implementation, run one group at a time. A whole suite is useful for a baseline, but it is slower and produces more information than you need for one change.</a:t>
            </a:r>
          </a:p>
          <a:p xmlns:a="http://schemas.openxmlformats.org/drawingml/2006/main">
            <a:r>
              <a:t/>
            </a:r>
          </a:p>
          <a:p xmlns:a="http://schemas.openxmlformats.org/drawingml/2006/main">
            <a:r>
              <a:t>Source: planned guidance copy in hl7au/au-fhir-inferno PR 203.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short version of the result states.</a:t>
            </a:r>
          </a:p>
          <a:p xmlns:a="http://schemas.openxmlformats.org/drawingml/2006/main">
            <a:r>
              <a:t/>
            </a:r>
          </a:p>
          <a:p xmlns:a="http://schemas.openxmlformats.org/drawingml/2006/main">
            <a:r>
              <a:t>Pass means the assertion held. Fail means it did not hold, so open the test and read the message. Skip means the test could not run because something it needed was missing. Omit means the test did not apply. Error means something unexpected happened, such as a connection problem, malformed response, or test-kit defect.</a:t>
            </a:r>
          </a:p>
          <a:p xmlns:a="http://schemas.openxmlformats.org/drawingml/2006/main">
            <a:r>
              <a:t/>
            </a:r>
          </a:p>
          <a:p xmlns:a="http://schemas.openxmlformats.org/drawingml/2006/main">
            <a:r>
              <a:t>Warnings and information messages can appear on passing tests. They are worth reading before a test event even when they do not make the test fail.</a:t>
            </a:r>
          </a:p>
          <a:p xmlns:a="http://schemas.openxmlformats.org/drawingml/2006/main">
            <a:r>
              <a:t/>
            </a:r>
          </a:p>
          <a:p xmlns:a="http://schemas.openxmlformats.org/drawingml/2006/main">
            <a:r>
              <a:t>Source: planned guidance copy in hl7au/au-fhir-inferno PR 203.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session URL when you ask for help. It lets another tester or reviewer inspect the same results and request evidence.</a:t>
            </a:r>
          </a:p>
          <a:p xmlns:a="http://schemas.openxmlformats.org/drawingml/2006/main">
            <a:r>
              <a:t/>
            </a:r>
          </a:p>
          <a:p xmlns:a="http://schemas.openxmlformats.org/drawingml/2006/main">
            <a:r>
              <a:t>Public sessions are periodically removed, so download the report or capture the important evidence if you need a lasting record.</a:t>
            </a:r>
          </a:p>
          <a:p xmlns:a="http://schemas.openxmlformats.org/drawingml/2006/main">
            <a:r>
              <a:t/>
            </a:r>
          </a:p>
          <a:p xmlns:a="http://schemas.openxmlformats.org/drawingml/2006/main">
            <a:r>
              <a:t>For this internal draft I am using the PR 203 preview. The stable address shown on the closing slide will contain this material after PR 203 lands.</a:t>
            </a:r>
          </a:p>
          <a:p xmlns:a="http://schemas.openxmlformats.org/drawingml/2006/main">
            <a:r>
              <a:t/>
            </a:r>
          </a:p>
          <a:p xmlns:a="http://schemas.openxmlformats.org/drawingml/2006/main">
            <a:r>
              <a:t>The guidance page links the feedback topic and kit repositories. Include the session URL and one sentence describing what you expected.</a:t>
            </a:r>
          </a:p>
          <a:p xmlns:a="http://schemas.openxmlformats.org/drawingml/2006/main">
            <a:r>
              <a:t/>
            </a:r>
          </a:p>
          <a:p xmlns:a="http://schemas.openxmlformats.org/drawingml/2006/main">
            <a:r>
              <a:t>If your server is private, run the same open-source kit locally with Docker. The Inferno API also lets a team automate these runs in a build pipeline.</a:t>
            </a:r>
          </a:p>
          <a:p xmlns:a="http://schemas.openxmlformats.org/drawingml/2006/main">
            <a:r>
              <a:t/>
            </a:r>
          </a:p>
          <a:p xmlns:a="http://schemas.openxmlformats.org/drawingml/2006/main">
            <a:r>
              <a:t>Start with one group and synthetic data. Keep the session URL, read the first failure, fix it, and rerun.</a:t>
            </a:r>
          </a:p>
          <a:p xmlns:a="http://schemas.openxmlformats.org/drawingml/2006/main">
            <a:r>
              <a:t/>
            </a:r>
          </a:p>
          <a:p xmlns:a="http://schemas.openxmlformats.org/drawingml/2006/main">
            <a:r>
              <a:t>The guidance page has the links from this demonstration. Bring a known baseline to the test event, and use the community feedback channel when a result does not make sense. Thank you.</a:t>
            </a:r>
          </a:p>
          <a:p xmlns:a="http://schemas.openxmlformats.org/drawingml/2006/main">
            <a:r>
              <a:t/>
            </a:r>
          </a:p>
          <a:p xmlns:a="http://schemas.openxmlformats.org/drawingml/2006/main">
            <a:r>
              <a:t>Source: https://inferno.hl7.org.au/guidance/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a0bbd1604148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e2948e240b4cca" /><Relationship Type="http://schemas.openxmlformats.org/officeDocument/2006/relationships/slideLayout" Target="/ppt/slideLayouts/slideLayout1.xml" Id="Rff990ea994a04e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990ea994a04e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d901158d554aa7" /><Relationship Type="http://schemas.openxmlformats.org/officeDocument/2006/relationships/image" Target="/ppt/media/image.png" Id="Rc400c0d0976d4872" /><Relationship Type="http://schemas.openxmlformats.org/officeDocument/2006/relationships/image" Target="/ppt/media/image2.png" Id="R5e4da6f74e384daa" /><Relationship Type="http://schemas.openxmlformats.org/officeDocument/2006/relationships/notesSlide" Target="/ppt/notesSlides/notesSlide1.xml" Id="R043ac2549f354c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d188a167834d09" /><Relationship Type="http://schemas.openxmlformats.org/officeDocument/2006/relationships/image" Target="/ppt/media/image3.png" Id="R29c057c0ca9c49f4" /><Relationship Type="http://schemas.openxmlformats.org/officeDocument/2006/relationships/notesSlide" Target="/ppt/notesSlides/notesSlide2.xml" Id="R5a489acb78c644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09b16d060b46d0" /><Relationship Type="http://schemas.openxmlformats.org/officeDocument/2006/relationships/image" Target="/ppt/media/image4.png" Id="R28b0beb6b8214f20" /><Relationship Type="http://schemas.openxmlformats.org/officeDocument/2006/relationships/notesSlide" Target="/ppt/notesSlides/notesSlide3.xml" Id="Rf73be648bd9243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33fc33aa5846c6" /><Relationship Type="http://schemas.openxmlformats.org/officeDocument/2006/relationships/notesSlide" Target="/ppt/notesSlides/notesSlide4.xml" Id="R3baf177be1c142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df6febba6b4ad9" /><Relationship Type="http://schemas.openxmlformats.org/officeDocument/2006/relationships/notesSlide" Target="/ppt/notesSlides/notesSlide5.xml" Id="Rea0d4a8c416045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91fdeb5ba64f5d" /><Relationship Type="http://schemas.openxmlformats.org/officeDocument/2006/relationships/image" Target="/ppt/media/image5.png" Id="R21f28a268b1045a0" /><Relationship Type="http://schemas.openxmlformats.org/officeDocument/2006/relationships/image" Target="/ppt/media/image6.png" Id="R5507fc1c82db4118" /><Relationship Type="http://schemas.openxmlformats.org/officeDocument/2006/relationships/notesSlide" Target="/ppt/notesSlides/notesSlide6.xml" Id="R9f036df4d7cd41e9" /></Relationships>
</file>

<file path=ppt/slides/slide1.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400c0d0976d4872"/>
          <a:stretch xmlns:a="http://schemas.openxmlformats.org/drawingml/2006/main"/>
        </p:blipFill>
        <p:spPr>
          <a:xfrm xmlns:a="http://schemas.openxmlformats.org/drawingml/2006/main">
            <a:off x="4096441" y="552450"/>
            <a:ext cx="3999119" cy="1400175"/>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e4da6f74e384daa"/>
          <a:stretch xmlns:a="http://schemas.openxmlformats.org/drawingml/2006/main"/>
        </p:blipFill>
        <p:spPr>
          <a:xfrm xmlns:a="http://schemas.openxmlformats.org/drawingml/2006/main">
            <a:off x="904875" y="2952750"/>
            <a:ext cx="1619250" cy="1619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328D7FF-0C59-40F1-B6B5-F57C130DE113}"/>
              </a:ext>
            </a:extLst>
          </p:cNvPr>
          <p:cNvSpPr>
            <a:spLocks xmlns:a="http://schemas.openxmlformats.org/drawingml/2006/main" noGrp="1"/>
          </p:cNvSpPr>
          <p:nvPr/>
        </p:nvSpPr>
        <p:spPr>
          <a:xfrm xmlns:a="http://schemas.openxmlformats.org/drawingml/2006/main">
            <a:off x="2857500" y="2628900"/>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10283B"/>
                </a:solidFill>
                <a:latin typeface="Arial"/>
                <a:ea typeface="Arial"/>
                <a:cs typeface="Arial"/>
              </a:defRPr>
            </a:pPr>
            <a:r>
              <a:rPr sz="4050" b="1">
                <a:solidFill>
                  <a:srgbClr val="10283B"/>
                </a:solidFill>
                <a:latin typeface="Arial"/>
                <a:ea typeface="Arial"/>
                <a:cs typeface="Arial"/>
              </a:rPr>
              <a:t>Inferno Test Kit 101</a:t>
            </a:r>
          </a:p>
        </p:txBody>
      </p:sp>
      <p:sp>
        <p:nvSpPr>
          <p:cNvPr id="4" name="">
            <a:extLst xmlns:a="http://schemas.openxmlformats.org/drawingml/2006/main">
              <a:ext uri="{FF2B5EF4-FFF2-40B4-BE49-F238E27FC236}">
                <a16:creationId xmlns:a16="http://schemas.microsoft.com/office/drawing/2014/main" id="{10CBB3D2-6F2B-453F-8B0C-43B128114D34}"/>
              </a:ext>
            </a:extLst>
          </p:cNvPr>
          <p:cNvSpPr>
            <a:spLocks xmlns:a="http://schemas.openxmlformats.org/drawingml/2006/main" noGrp="1"/>
          </p:cNvSpPr>
          <p:nvPr/>
        </p:nvSpPr>
        <p:spPr>
          <a:xfrm xmlns:a="http://schemas.openxmlformats.org/drawingml/2006/main">
            <a:off x="2895600" y="36385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9D3E13"/>
                </a:solidFill>
                <a:latin typeface="Arial"/>
                <a:ea typeface="Arial"/>
                <a:cs typeface="Arial"/>
              </a:defRPr>
            </a:pPr>
            <a:r>
              <a:rPr sz="2025" b="0">
                <a:solidFill>
                  <a:srgbClr val="9D3E13"/>
                </a:solidFill>
                <a:latin typeface="Arial"/>
                <a:ea typeface="Arial"/>
                <a:cs typeface="Arial"/>
              </a:rPr>
              <a:t>Run a test, read the result, keep the evidence</a:t>
            </a:r>
          </a:p>
        </p:txBody>
      </p:sp>
      <p:sp>
        <p:nvSpPr>
          <p:cNvPr id="5" name="">
            <a:extLst xmlns:a="http://schemas.openxmlformats.org/drawingml/2006/main">
              <a:ext uri="{FF2B5EF4-FFF2-40B4-BE49-F238E27FC236}">
                <a16:creationId xmlns:a16="http://schemas.microsoft.com/office/drawing/2014/main" id="{2ECB2994-CF13-4DB5-8D1C-CC930159A246}"/>
              </a:ext>
            </a:extLst>
          </p:cNvPr>
          <p:cNvSpPr>
            <a:spLocks xmlns:a="http://schemas.openxmlformats.org/drawingml/2006/main" noGrp="1"/>
          </p:cNvSpPr>
          <p:nvPr/>
        </p:nvSpPr>
        <p:spPr>
          <a:xfrm xmlns:a="http://schemas.openxmlformats.org/drawingml/2006/main">
            <a:off x="2895600" y="447675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16A"/>
                </a:solidFill>
                <a:latin typeface="Arial"/>
                <a:ea typeface="Arial"/>
                <a:cs typeface="Arial"/>
              </a:defRPr>
            </a:pPr>
            <a:r>
              <a:rPr sz="1350" b="0">
                <a:solidFill>
                  <a:srgbClr val="53616A"/>
                </a:solidFill>
                <a:latin typeface="Arial"/>
                <a:ea typeface="Arial"/>
                <a:cs typeface="Arial"/>
              </a:rPr>
              <a:t>Draft recording for team review</a:t>
            </a:r>
          </a:p>
        </p:txBody>
      </p:sp>
      <p:sp>
        <p:nvSpPr>
          <p:cNvPr id="6" name="">
            <a:extLst xmlns:a="http://schemas.openxmlformats.org/drawingml/2006/main">
              <a:ext uri="{FF2B5EF4-FFF2-40B4-BE49-F238E27FC236}">
                <a16:creationId xmlns:a16="http://schemas.microsoft.com/office/drawing/2014/main" id="{60591235-03F0-4357-8440-3198AA7694C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F6A2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050517-994B-40BC-BA23-7EF6E364BA4E}"/>
              </a:ext>
            </a:extLst>
          </p:cNvPr>
          <p:cNvSpPr>
            <a:spLocks xmlns:a="http://schemas.openxmlformats.org/drawingml/2006/main" noGrp="1"/>
          </p:cNvSpPr>
          <p:nvPr/>
        </p:nvSpPr>
        <p:spPr>
          <a:xfrm xmlns:a="http://schemas.openxmlformats.org/drawingml/2006/main">
            <a:off x="685800" y="6381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9D3E13"/>
                </a:solidFill>
                <a:latin typeface="Arial"/>
                <a:ea typeface="Arial"/>
                <a:cs typeface="Arial"/>
              </a:defRPr>
            </a:pPr>
            <a:r>
              <a:rPr sz="825" b="1">
                <a:solidFill>
                  <a:srgbClr val="9D3E13"/>
                </a:solidFill>
                <a:latin typeface="Arial"/>
                <a:ea typeface="Arial"/>
                <a:cs typeface="Arial"/>
              </a:rPr>
              <a:t>SPARKED FHIR AU</a:t>
            </a:r>
          </a:p>
        </p:txBody>
      </p:sp>
    </p:spTree>
    <p:extLst>
      <p:ext uri="{BB962C8B-B14F-4D97-AF65-F5344CB8AC3E}">
        <p14:creationId xmlns:p14="http://schemas.microsoft.com/office/powerpoint/2010/main" val="6367952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9c057c0ca9c49f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20324972"/>
      </p:ext>
    </p:extLst>
  </p:cSld>
</p:sld>
</file>

<file path=ppt/slides/slide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4B365C-207C-43D0-AFAA-DFFA8F5C14F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F6A2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907CE-000A-467D-8ED9-1270422530C6}"/>
              </a:ext>
            </a:extLst>
          </p:cNvPr>
          <p:cNvSpPr>
            <a:spLocks xmlns:a="http://schemas.openxmlformats.org/drawingml/2006/main" noGrp="1"/>
          </p:cNvSpPr>
          <p:nvPr/>
        </p:nvSpPr>
        <p:spPr>
          <a:xfrm xmlns:a="http://schemas.openxmlformats.org/drawingml/2006/main">
            <a:off x="685800" y="6381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9D3E13"/>
                </a:solidFill>
                <a:latin typeface="Arial"/>
                <a:ea typeface="Arial"/>
                <a:cs typeface="Arial"/>
              </a:defRPr>
            </a:pPr>
            <a:r>
              <a:rPr sz="825" b="1">
                <a:solidFill>
                  <a:srgbClr val="9D3E13"/>
                </a:solidFill>
                <a:latin typeface="Arial"/>
                <a:ea typeface="Arial"/>
                <a:cs typeface="Arial"/>
              </a:rPr>
              <a:t>SPARKED FHIR AU</a:t>
            </a:r>
          </a:p>
        </p:txBody>
      </p:sp>
      <p:sp>
        <p:nvSpPr>
          <p:cNvPr id="3" name="">
            <a:extLst xmlns:a="http://schemas.openxmlformats.org/drawingml/2006/main">
              <a:ext uri="{FF2B5EF4-FFF2-40B4-BE49-F238E27FC236}">
                <a16:creationId xmlns:a16="http://schemas.microsoft.com/office/drawing/2014/main" id="{34884D51-280A-471F-ADC2-8DE1A628EB58}"/>
              </a:ext>
            </a:extLst>
          </p:cNvPr>
          <p:cNvSpPr>
            <a:spLocks xmlns:a="http://schemas.openxmlformats.org/drawingml/2006/main" noGrp="1"/>
          </p:cNvSpPr>
          <p:nvPr/>
        </p:nvSpPr>
        <p:spPr>
          <a:xfrm xmlns:a="http://schemas.openxmlformats.org/drawingml/2006/main">
            <a:off x="685800" y="49530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83B"/>
                </a:solidFill>
                <a:latin typeface="Arial"/>
                <a:ea typeface="Arial"/>
                <a:cs typeface="Arial"/>
              </a:defRPr>
            </a:pPr>
            <a:r>
              <a:rPr sz="2850" b="1">
                <a:solidFill>
                  <a:srgbClr val="10283B"/>
                </a:solidFill>
                <a:latin typeface="Arial"/>
                <a:ea typeface="Arial"/>
                <a:cs typeface="Arial"/>
              </a:rPr>
              <a:t>What Inferno tests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8b0beb6b8214f20"/>
          <a:stretch xmlns:a="http://schemas.openxmlformats.org/drawingml/2006/main"/>
        </p:blipFill>
        <p:spPr>
          <a:xfrm xmlns:a="http://schemas.openxmlformats.org/drawingml/2006/main">
            <a:off x="5095875" y="2209800"/>
            <a:ext cx="2000250" cy="2000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1BEFB2B-9FB6-4EF9-B2BB-CB99B31C37BE}"/>
              </a:ext>
            </a:extLst>
          </p:cNvPr>
          <p:cNvSpPr>
            <a:spLocks xmlns:a="http://schemas.openxmlformats.org/drawingml/2006/main" noGrp="1"/>
          </p:cNvSpPr>
          <p:nvPr/>
        </p:nvSpPr>
        <p:spPr>
          <a:xfrm xmlns:a="http://schemas.openxmlformats.org/drawingml/2006/main">
            <a:off x="781050" y="16192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9D3E13"/>
                </a:solidFill>
                <a:latin typeface="Arial"/>
                <a:ea typeface="Arial"/>
                <a:cs typeface="Arial"/>
              </a:defRPr>
            </a:pPr>
            <a:r>
              <a:rPr sz="2175" b="1">
                <a:solidFill>
                  <a:srgbClr val="9D3E13"/>
                </a:solidFill>
                <a:latin typeface="Arial"/>
                <a:ea typeface="Arial"/>
                <a:cs typeface="Arial"/>
              </a:rPr>
              <a:t>AU Patient Summary</a:t>
            </a:r>
          </a:p>
        </p:txBody>
      </p:sp>
      <p:sp>
        <p:nvSpPr>
          <p:cNvPr id="6" name="">
            <a:extLst xmlns:a="http://schemas.openxmlformats.org/drawingml/2006/main">
              <a:ext uri="{FF2B5EF4-FFF2-40B4-BE49-F238E27FC236}">
                <a16:creationId xmlns:a16="http://schemas.microsoft.com/office/drawing/2014/main" id="{D86D8705-90E2-4534-9425-F2215FB24872}"/>
              </a:ext>
            </a:extLst>
          </p:cNvPr>
          <p:cNvSpPr>
            <a:spLocks xmlns:a="http://schemas.openxmlformats.org/drawingml/2006/main" noGrp="1"/>
          </p:cNvSpPr>
          <p:nvPr/>
        </p:nvSpPr>
        <p:spPr>
          <a:xfrm xmlns:a="http://schemas.openxmlformats.org/drawingml/2006/main">
            <a:off x="781050" y="2209800"/>
            <a:ext cx="3619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0283B"/>
                </a:solidFill>
                <a:latin typeface="Arial"/>
                <a:ea typeface="Arial"/>
                <a:cs typeface="Arial"/>
              </a:defRPr>
            </a:pPr>
            <a:r>
              <a:rPr sz="1725" b="0">
                <a:solidFill>
                  <a:srgbClr val="10283B"/>
                </a:solidFill>
                <a:latin typeface="Arial"/>
                <a:ea typeface="Arial"/>
                <a:cs typeface="Arial"/>
              </a:rPr>
              <a:t>You have a patient summary Bundle, or a server that serves or generates one.</a:t>
            </a:r>
          </a:p>
        </p:txBody>
      </p:sp>
      <p:sp>
        <p:nvSpPr>
          <p:cNvPr id="7" name="">
            <a:extLst xmlns:a="http://schemas.openxmlformats.org/drawingml/2006/main">
              <a:ext uri="{FF2B5EF4-FFF2-40B4-BE49-F238E27FC236}">
                <a16:creationId xmlns:a16="http://schemas.microsoft.com/office/drawing/2014/main" id="{01F2C0A2-0650-495D-8DCD-C10822B4FE60}"/>
              </a:ext>
            </a:extLst>
          </p:cNvPr>
          <p:cNvSpPr>
            <a:spLocks xmlns:a="http://schemas.openxmlformats.org/drawingml/2006/main" noGrp="1"/>
          </p:cNvSpPr>
          <p:nvPr/>
        </p:nvSpPr>
        <p:spPr>
          <a:xfrm xmlns:a="http://schemas.openxmlformats.org/drawingml/2006/main">
            <a:off x="781050" y="3638550"/>
            <a:ext cx="3714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3616A"/>
                </a:solidFill>
                <a:latin typeface="Arial"/>
                <a:ea typeface="Arial"/>
                <a:cs typeface="Arial"/>
              </a:defRPr>
            </a:pPr>
            <a:r>
              <a:rPr sz="1500" b="0">
                <a:solidFill>
                  <a:srgbClr val="53616A"/>
                </a:solidFill>
                <a:latin typeface="Arial"/>
                <a:ea typeface="Arial"/>
                <a:cs typeface="Arial"/>
              </a:rPr>
              <a:t>Validate the document, Composition sections, referenced resources, Must Support elements, and terminology.</a:t>
            </a:r>
          </a:p>
        </p:txBody>
      </p:sp>
      <p:sp>
        <p:nvSpPr>
          <p:cNvPr id="8" name="">
            <a:extLst xmlns:a="http://schemas.openxmlformats.org/drawingml/2006/main">
              <a:ext uri="{FF2B5EF4-FFF2-40B4-BE49-F238E27FC236}">
                <a16:creationId xmlns:a16="http://schemas.microsoft.com/office/drawing/2014/main" id="{B6D0E1AB-BEB4-427F-9735-57F6A8D71CDE}"/>
              </a:ext>
            </a:extLst>
          </p:cNvPr>
          <p:cNvSpPr>
            <a:spLocks xmlns:a="http://schemas.openxmlformats.org/drawingml/2006/main" noGrp="1"/>
          </p:cNvSpPr>
          <p:nvPr/>
        </p:nvSpPr>
        <p:spPr>
          <a:xfrm xmlns:a="http://schemas.openxmlformats.org/drawingml/2006/main">
            <a:off x="7715250" y="16192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9D3E13"/>
                </a:solidFill>
                <a:latin typeface="Arial"/>
                <a:ea typeface="Arial"/>
                <a:cs typeface="Arial"/>
              </a:defRPr>
            </a:pPr>
            <a:r>
              <a:rPr sz="2175" b="1">
                <a:solidFill>
                  <a:srgbClr val="9D3E13"/>
                </a:solidFill>
                <a:latin typeface="Arial"/>
                <a:ea typeface="Arial"/>
                <a:cs typeface="Arial"/>
              </a:rPr>
              <a:t>AU Core</a:t>
            </a:r>
          </a:p>
        </p:txBody>
      </p:sp>
      <p:sp>
        <p:nvSpPr>
          <p:cNvPr id="9" name="">
            <a:extLst xmlns:a="http://schemas.openxmlformats.org/drawingml/2006/main">
              <a:ext uri="{FF2B5EF4-FFF2-40B4-BE49-F238E27FC236}">
                <a16:creationId xmlns:a16="http://schemas.microsoft.com/office/drawing/2014/main" id="{85BEC013-FFE3-45E0-AADE-1ECBB89A30E6}"/>
              </a:ext>
            </a:extLst>
          </p:cNvPr>
          <p:cNvSpPr>
            <a:spLocks xmlns:a="http://schemas.openxmlformats.org/drawingml/2006/main" noGrp="1"/>
          </p:cNvSpPr>
          <p:nvPr/>
        </p:nvSpPr>
        <p:spPr>
          <a:xfrm xmlns:a="http://schemas.openxmlformats.org/drawingml/2006/main">
            <a:off x="7715250" y="220980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0283B"/>
                </a:solidFill>
                <a:latin typeface="Arial"/>
                <a:ea typeface="Arial"/>
                <a:cs typeface="Arial"/>
              </a:defRPr>
            </a:pPr>
            <a:r>
              <a:rPr sz="1725" b="0">
                <a:solidFill>
                  <a:srgbClr val="10283B"/>
                </a:solidFill>
                <a:latin typeface="Arial"/>
                <a:ea typeface="Arial"/>
                <a:cs typeface="Arial"/>
              </a:rPr>
              <a:t>You operate a FHIR server that other systems query.</a:t>
            </a:r>
          </a:p>
        </p:txBody>
      </p:sp>
      <p:sp>
        <p:nvSpPr>
          <p:cNvPr id="10" name="">
            <a:extLst xmlns:a="http://schemas.openxmlformats.org/drawingml/2006/main">
              <a:ext uri="{FF2B5EF4-FFF2-40B4-BE49-F238E27FC236}">
                <a16:creationId xmlns:a16="http://schemas.microsoft.com/office/drawing/2014/main" id="{2009483A-6916-4DE0-A6D2-DC4D18E1F79F}"/>
              </a:ext>
            </a:extLst>
          </p:cNvPr>
          <p:cNvSpPr>
            <a:spLocks xmlns:a="http://schemas.openxmlformats.org/drawingml/2006/main" noGrp="1"/>
          </p:cNvSpPr>
          <p:nvPr/>
        </p:nvSpPr>
        <p:spPr>
          <a:xfrm xmlns:a="http://schemas.openxmlformats.org/drawingml/2006/main">
            <a:off x="7715250" y="3638550"/>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3616A"/>
                </a:solidFill>
                <a:latin typeface="Arial"/>
                <a:ea typeface="Arial"/>
                <a:cs typeface="Arial"/>
              </a:defRPr>
            </a:pPr>
            <a:r>
              <a:rPr sz="1500" b="0">
                <a:solidFill>
                  <a:srgbClr val="53616A"/>
                </a:solidFill>
                <a:latin typeface="Arial"/>
                <a:ea typeface="Arial"/>
                <a:cs typeface="Arial"/>
              </a:rPr>
              <a:t>Run required searches, inspect returned data, validate profiles, and check references.</a:t>
            </a:r>
          </a:p>
        </p:txBody>
      </p:sp>
      <p:sp>
        <p:nvSpPr>
          <p:cNvPr id="11" name="">
            <a:extLst xmlns:a="http://schemas.openxmlformats.org/drawingml/2006/main">
              <a:ext uri="{FF2B5EF4-FFF2-40B4-BE49-F238E27FC236}">
                <a16:creationId xmlns:a16="http://schemas.microsoft.com/office/drawing/2014/main" id="{07CC96C2-08D5-4717-8A10-1B95E64800BB}"/>
              </a:ext>
            </a:extLst>
          </p:cNvPr>
          <p:cNvSpPr>
            <a:spLocks xmlns:a="http://schemas.openxmlformats.org/drawingml/2006/main" noGrp="1"/>
          </p:cNvSpPr>
          <p:nvPr/>
        </p:nvSpPr>
        <p:spPr>
          <a:xfrm xmlns:a="http://schemas.openxmlformats.org/drawingml/2006/main">
            <a:off x="3695700" y="53816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0283B"/>
                </a:solidFill>
                <a:latin typeface="Arial"/>
                <a:ea typeface="Arial"/>
                <a:cs typeface="Arial"/>
              </a:defRPr>
            </a:pPr>
            <a:r>
              <a:rPr sz="1650" b="1">
                <a:solidFill>
                  <a:srgbClr val="10283B"/>
                </a:solidFill>
                <a:latin typeface="Arial"/>
                <a:ea typeface="Arial"/>
                <a:cs typeface="Arial"/>
              </a:rPr>
              <a:t>Reference testing, not certification</a:t>
            </a:r>
          </a:p>
        </p:txBody>
      </p:sp>
    </p:spTree>
    <p:extLst>
      <p:ext uri="{BB962C8B-B14F-4D97-AF65-F5344CB8AC3E}">
        <p14:creationId xmlns:p14="http://schemas.microsoft.com/office/powerpoint/2010/main" val="11723569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1A2BB0C-8F9C-4D12-A458-CD5B52254C1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F6A2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7C25AB-8013-49B7-9308-4951328258BD}"/>
              </a:ext>
            </a:extLst>
          </p:cNvPr>
          <p:cNvSpPr>
            <a:spLocks xmlns:a="http://schemas.openxmlformats.org/drawingml/2006/main" noGrp="1"/>
          </p:cNvSpPr>
          <p:nvPr/>
        </p:nvSpPr>
        <p:spPr>
          <a:xfrm xmlns:a="http://schemas.openxmlformats.org/drawingml/2006/main">
            <a:off x="685800" y="6381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9D3E13"/>
                </a:solidFill>
                <a:latin typeface="Arial"/>
                <a:ea typeface="Arial"/>
                <a:cs typeface="Arial"/>
              </a:defRPr>
            </a:pPr>
            <a:r>
              <a:rPr sz="825" b="1">
                <a:solidFill>
                  <a:srgbClr val="9D3E13"/>
                </a:solidFill>
                <a:latin typeface="Arial"/>
                <a:ea typeface="Arial"/>
                <a:cs typeface="Arial"/>
              </a:rPr>
              <a:t>SPARKED FHIR AU</a:t>
            </a:r>
          </a:p>
        </p:txBody>
      </p:sp>
      <p:sp>
        <p:nvSpPr>
          <p:cNvPr id="3" name="">
            <a:extLst xmlns:a="http://schemas.openxmlformats.org/drawingml/2006/main">
              <a:ext uri="{FF2B5EF4-FFF2-40B4-BE49-F238E27FC236}">
                <a16:creationId xmlns:a16="http://schemas.microsoft.com/office/drawing/2014/main" id="{20F65AED-FACB-4CAF-AECD-FDD96467C48F}"/>
              </a:ext>
            </a:extLst>
          </p:cNvPr>
          <p:cNvSpPr>
            <a:spLocks xmlns:a="http://schemas.openxmlformats.org/drawingml/2006/main" noGrp="1"/>
          </p:cNvSpPr>
          <p:nvPr/>
        </p:nvSpPr>
        <p:spPr>
          <a:xfrm xmlns:a="http://schemas.openxmlformats.org/drawingml/2006/main">
            <a:off x="685800" y="495300"/>
            <a:ext cx="847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83B"/>
                </a:solidFill>
                <a:latin typeface="Arial"/>
                <a:ea typeface="Arial"/>
                <a:cs typeface="Arial"/>
              </a:defRPr>
            </a:pPr>
            <a:r>
              <a:rPr sz="2850" b="1">
                <a:solidFill>
                  <a:srgbClr val="10283B"/>
                </a:solidFill>
                <a:latin typeface="Arial"/>
                <a:ea typeface="Arial"/>
                <a:cs typeface="Arial"/>
              </a:rPr>
              <a:t>How Inferno organises a run</a:t>
            </a:r>
          </a:p>
        </p:txBody>
      </p:sp>
      <p:sp>
        <p:nvSpPr>
          <p:cNvPr id="4" name="">
            <a:extLst xmlns:a="http://schemas.openxmlformats.org/drawingml/2006/main">
              <a:ext uri="{FF2B5EF4-FFF2-40B4-BE49-F238E27FC236}">
                <a16:creationId xmlns:a16="http://schemas.microsoft.com/office/drawing/2014/main" id="{28B28784-7C91-4CAB-9513-CCE177602746}"/>
              </a:ext>
            </a:extLst>
          </p:cNvPr>
          <p:cNvSpPr>
            <a:spLocks xmlns:a="http://schemas.openxmlformats.org/drawingml/2006/main" noGrp="1"/>
          </p:cNvSpPr>
          <p:nvPr/>
        </p:nvSpPr>
        <p:spPr>
          <a:xfrm xmlns:a="http://schemas.openxmlformats.org/drawingml/2006/main">
            <a:off x="952500" y="1514475"/>
            <a:ext cx="609600" cy="609600"/>
          </a:xfrm>
          <a:prstGeom xmlns:a="http://schemas.openxmlformats.org/drawingml/2006/main" prst="ellipse">
            <a:avLst/>
          </a:prstGeom>
          <a:solidFill xmlns:a="http://schemas.openxmlformats.org/drawingml/2006/main">
            <a:srgbClr val="FF6A2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B08D00-4846-463B-85C9-5E623F6337C9}"/>
              </a:ext>
            </a:extLst>
          </p:cNvPr>
          <p:cNvSpPr>
            <a:spLocks xmlns:a="http://schemas.openxmlformats.org/drawingml/2006/main" noGrp="1"/>
          </p:cNvSpPr>
          <p:nvPr/>
        </p:nvSpPr>
        <p:spPr>
          <a:xfrm xmlns:a="http://schemas.openxmlformats.org/drawingml/2006/main">
            <a:off x="952500" y="1514475"/>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CD3F5CA-15F7-4523-A4BF-6B467551D50F}"/>
              </a:ext>
            </a:extLst>
          </p:cNvPr>
          <p:cNvSpPr>
            <a:spLocks xmlns:a="http://schemas.openxmlformats.org/drawingml/2006/main" noGrp="1"/>
          </p:cNvSpPr>
          <p:nvPr/>
        </p:nvSpPr>
        <p:spPr>
          <a:xfrm xmlns:a="http://schemas.openxmlformats.org/drawingml/2006/main">
            <a:off x="1885950" y="14668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0283B"/>
                </a:solidFill>
                <a:latin typeface="Arial"/>
                <a:ea typeface="Arial"/>
                <a:cs typeface="Arial"/>
              </a:defRPr>
            </a:pPr>
            <a:r>
              <a:rPr sz="2025" b="1">
                <a:solidFill>
                  <a:srgbClr val="10283B"/>
                </a:solidFill>
                <a:latin typeface="Arial"/>
                <a:ea typeface="Arial"/>
                <a:cs typeface="Arial"/>
              </a:rPr>
              <a:t>Test kit</a:t>
            </a:r>
          </a:p>
        </p:txBody>
      </p:sp>
      <p:sp>
        <p:nvSpPr>
          <p:cNvPr id="7" name="">
            <a:extLst xmlns:a="http://schemas.openxmlformats.org/drawingml/2006/main">
              <a:ext uri="{FF2B5EF4-FFF2-40B4-BE49-F238E27FC236}">
                <a16:creationId xmlns:a16="http://schemas.microsoft.com/office/drawing/2014/main" id="{0132AA0F-ADFE-436E-A582-BF967643E077}"/>
              </a:ext>
            </a:extLst>
          </p:cNvPr>
          <p:cNvSpPr>
            <a:spLocks xmlns:a="http://schemas.openxmlformats.org/drawingml/2006/main" noGrp="1"/>
          </p:cNvSpPr>
          <p:nvPr/>
        </p:nvSpPr>
        <p:spPr>
          <a:xfrm xmlns:a="http://schemas.openxmlformats.org/drawingml/2006/main">
            <a:off x="4333875" y="1466850"/>
            <a:ext cx="647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53616A"/>
                </a:solidFill>
                <a:latin typeface="Arial"/>
                <a:ea typeface="Arial"/>
                <a:cs typeface="Arial"/>
              </a:defRPr>
            </a:pPr>
            <a:r>
              <a:rPr sz="1650" b="0">
                <a:solidFill>
                  <a:srgbClr val="53616A"/>
                </a:solidFill>
                <a:latin typeface="Arial"/>
                <a:ea typeface="Arial"/>
                <a:cs typeface="Arial"/>
              </a:rPr>
              <a:t>One use case or implementation guide</a:t>
            </a:r>
          </a:p>
        </p:txBody>
      </p:sp>
      <p:sp>
        <p:nvSpPr>
          <p:cNvPr id="8" name="">
            <a:extLst xmlns:a="http://schemas.openxmlformats.org/drawingml/2006/main">
              <a:ext uri="{FF2B5EF4-FFF2-40B4-BE49-F238E27FC236}">
                <a16:creationId xmlns:a16="http://schemas.microsoft.com/office/drawing/2014/main" id="{7A14550A-196A-46C7-8EAA-FBA5B4E95989}"/>
              </a:ext>
            </a:extLst>
          </p:cNvPr>
          <p:cNvSpPr>
            <a:spLocks xmlns:a="http://schemas.openxmlformats.org/drawingml/2006/main" noGrp="1"/>
          </p:cNvSpPr>
          <p:nvPr/>
        </p:nvSpPr>
        <p:spPr>
          <a:xfrm xmlns:a="http://schemas.openxmlformats.org/drawingml/2006/main">
            <a:off x="1257300" y="2152650"/>
            <a:ext cx="0" cy="342900"/>
          </a:xfrm>
          <a:prstGeom xmlns:a="http://schemas.openxmlformats.org/drawingml/2006/main" prst="line">
            <a:avLst/>
          </a:prstGeom>
          <a:noFill xmlns:a="http://schemas.openxmlformats.org/drawingml/2006/main"/>
          <a:ln xmlns:a="http://schemas.openxmlformats.org/drawingml/2006/main" w="28575">
            <a:solidFill>
              <a:srgbClr val="D9DDE0"/>
            </a:solidFill>
            <a:prstDash val="solid"/>
          </a:ln>
        </p:spPr>
      </p:sp>
      <p:sp>
        <p:nvSpPr>
          <p:cNvPr id="9" name="">
            <a:extLst xmlns:a="http://schemas.openxmlformats.org/drawingml/2006/main">
              <a:ext uri="{FF2B5EF4-FFF2-40B4-BE49-F238E27FC236}">
                <a16:creationId xmlns:a16="http://schemas.microsoft.com/office/drawing/2014/main" id="{F3DA0BF9-476A-4A8C-AC3B-339514EB5C59}"/>
              </a:ext>
            </a:extLst>
          </p:cNvPr>
          <p:cNvSpPr>
            <a:spLocks xmlns:a="http://schemas.openxmlformats.org/drawingml/2006/main" noGrp="1"/>
          </p:cNvSpPr>
          <p:nvPr/>
        </p:nvSpPr>
        <p:spPr>
          <a:xfrm xmlns:a="http://schemas.openxmlformats.org/drawingml/2006/main">
            <a:off x="952500" y="2581275"/>
            <a:ext cx="609600" cy="609600"/>
          </a:xfrm>
          <a:prstGeom xmlns:a="http://schemas.openxmlformats.org/drawingml/2006/main" prst="ellipse">
            <a:avLst/>
          </a:prstGeom>
          <a:solidFill xmlns:a="http://schemas.openxmlformats.org/drawingml/2006/main">
            <a:srgbClr val="FF6A2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CF816E2-360E-45E1-8A3A-78D98E0E6DA0}"/>
              </a:ext>
            </a:extLst>
          </p:cNvPr>
          <p:cNvSpPr>
            <a:spLocks xmlns:a="http://schemas.openxmlformats.org/drawingml/2006/main" noGrp="1"/>
          </p:cNvSpPr>
          <p:nvPr/>
        </p:nvSpPr>
        <p:spPr>
          <a:xfrm xmlns:a="http://schemas.openxmlformats.org/drawingml/2006/main">
            <a:off x="952500" y="2581275"/>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B482CC3D-F4D9-4323-866C-533BAA7465A8}"/>
              </a:ext>
            </a:extLst>
          </p:cNvPr>
          <p:cNvSpPr>
            <a:spLocks xmlns:a="http://schemas.openxmlformats.org/drawingml/2006/main" noGrp="1"/>
          </p:cNvSpPr>
          <p:nvPr/>
        </p:nvSpPr>
        <p:spPr>
          <a:xfrm xmlns:a="http://schemas.openxmlformats.org/drawingml/2006/main">
            <a:off x="1885950" y="25336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0283B"/>
                </a:solidFill>
                <a:latin typeface="Arial"/>
                <a:ea typeface="Arial"/>
                <a:cs typeface="Arial"/>
              </a:defRPr>
            </a:pPr>
            <a:r>
              <a:rPr sz="2025" b="1">
                <a:solidFill>
                  <a:srgbClr val="10283B"/>
                </a:solidFill>
                <a:latin typeface="Arial"/>
                <a:ea typeface="Arial"/>
                <a:cs typeface="Arial"/>
              </a:rPr>
              <a:t>Suite</a:t>
            </a:r>
          </a:p>
        </p:txBody>
      </p:sp>
      <p:sp>
        <p:nvSpPr>
          <p:cNvPr id="12" name="">
            <a:extLst xmlns:a="http://schemas.openxmlformats.org/drawingml/2006/main">
              <a:ext uri="{FF2B5EF4-FFF2-40B4-BE49-F238E27FC236}">
                <a16:creationId xmlns:a16="http://schemas.microsoft.com/office/drawing/2014/main" id="{C167F995-0A6C-4ADA-BC0B-D03399FCF795}"/>
              </a:ext>
            </a:extLst>
          </p:cNvPr>
          <p:cNvSpPr>
            <a:spLocks xmlns:a="http://schemas.openxmlformats.org/drawingml/2006/main" noGrp="1"/>
          </p:cNvSpPr>
          <p:nvPr/>
        </p:nvSpPr>
        <p:spPr>
          <a:xfrm xmlns:a="http://schemas.openxmlformats.org/drawingml/2006/main">
            <a:off x="4333875" y="2533650"/>
            <a:ext cx="647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53616A"/>
                </a:solidFill>
                <a:latin typeface="Arial"/>
                <a:ea typeface="Arial"/>
                <a:cs typeface="Arial"/>
              </a:defRPr>
            </a:pPr>
            <a:r>
              <a:rPr sz="1650" b="0">
                <a:solidFill>
                  <a:srgbClr val="53616A"/>
                </a:solidFill>
                <a:latin typeface="Arial"/>
                <a:ea typeface="Arial"/>
                <a:cs typeface="Arial"/>
              </a:rPr>
              <a:t>One published or ballot version</a:t>
            </a:r>
          </a:p>
        </p:txBody>
      </p:sp>
      <p:sp>
        <p:nvSpPr>
          <p:cNvPr id="13" name="">
            <a:extLst xmlns:a="http://schemas.openxmlformats.org/drawingml/2006/main">
              <a:ext uri="{FF2B5EF4-FFF2-40B4-BE49-F238E27FC236}">
                <a16:creationId xmlns:a16="http://schemas.microsoft.com/office/drawing/2014/main" id="{A6B2C647-E6DB-4D6F-B123-D302828F3782}"/>
              </a:ext>
            </a:extLst>
          </p:cNvPr>
          <p:cNvSpPr>
            <a:spLocks xmlns:a="http://schemas.openxmlformats.org/drawingml/2006/main" noGrp="1"/>
          </p:cNvSpPr>
          <p:nvPr/>
        </p:nvSpPr>
        <p:spPr>
          <a:xfrm xmlns:a="http://schemas.openxmlformats.org/drawingml/2006/main">
            <a:off x="1257300" y="3219450"/>
            <a:ext cx="0" cy="342900"/>
          </a:xfrm>
          <a:prstGeom xmlns:a="http://schemas.openxmlformats.org/drawingml/2006/main" prst="line">
            <a:avLst/>
          </a:prstGeom>
          <a:noFill xmlns:a="http://schemas.openxmlformats.org/drawingml/2006/main"/>
          <a:ln xmlns:a="http://schemas.openxmlformats.org/drawingml/2006/main" w="28575">
            <a:solidFill>
              <a:srgbClr val="D9DDE0"/>
            </a:solidFill>
            <a:prstDash val="solid"/>
          </a:ln>
        </p:spPr>
      </p:sp>
      <p:sp>
        <p:nvSpPr>
          <p:cNvPr id="14" name="">
            <a:extLst xmlns:a="http://schemas.openxmlformats.org/drawingml/2006/main">
              <a:ext uri="{FF2B5EF4-FFF2-40B4-BE49-F238E27FC236}">
                <a16:creationId xmlns:a16="http://schemas.microsoft.com/office/drawing/2014/main" id="{BD8C5A8A-12C1-4A0F-9CB9-908E8A5E2A20}"/>
              </a:ext>
            </a:extLst>
          </p:cNvPr>
          <p:cNvSpPr>
            <a:spLocks xmlns:a="http://schemas.openxmlformats.org/drawingml/2006/main" noGrp="1"/>
          </p:cNvSpPr>
          <p:nvPr/>
        </p:nvSpPr>
        <p:spPr>
          <a:xfrm xmlns:a="http://schemas.openxmlformats.org/drawingml/2006/main">
            <a:off x="952500" y="3648075"/>
            <a:ext cx="609600" cy="609600"/>
          </a:xfrm>
          <a:prstGeom xmlns:a="http://schemas.openxmlformats.org/drawingml/2006/main" prst="ellipse">
            <a:avLst/>
          </a:prstGeom>
          <a:solidFill xmlns:a="http://schemas.openxmlformats.org/drawingml/2006/main">
            <a:srgbClr val="FF6A2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1B47A0-C555-4B10-BA03-81F9BD740B69}"/>
              </a:ext>
            </a:extLst>
          </p:cNvPr>
          <p:cNvSpPr>
            <a:spLocks xmlns:a="http://schemas.openxmlformats.org/drawingml/2006/main" noGrp="1"/>
          </p:cNvSpPr>
          <p:nvPr/>
        </p:nvSpPr>
        <p:spPr>
          <a:xfrm xmlns:a="http://schemas.openxmlformats.org/drawingml/2006/main">
            <a:off x="952500" y="3648075"/>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980DAC90-E6F2-48D9-B460-EDFE6F1D9059}"/>
              </a:ext>
            </a:extLst>
          </p:cNvPr>
          <p:cNvSpPr>
            <a:spLocks xmlns:a="http://schemas.openxmlformats.org/drawingml/2006/main" noGrp="1"/>
          </p:cNvSpPr>
          <p:nvPr/>
        </p:nvSpPr>
        <p:spPr>
          <a:xfrm xmlns:a="http://schemas.openxmlformats.org/drawingml/2006/main">
            <a:off x="1885950" y="36004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0283B"/>
                </a:solidFill>
                <a:latin typeface="Arial"/>
                <a:ea typeface="Arial"/>
                <a:cs typeface="Arial"/>
              </a:defRPr>
            </a:pPr>
            <a:r>
              <a:rPr sz="2025" b="1">
                <a:solidFill>
                  <a:srgbClr val="10283B"/>
                </a:solidFill>
                <a:latin typeface="Arial"/>
                <a:ea typeface="Arial"/>
                <a:cs typeface="Arial"/>
              </a:rPr>
              <a:t>Group</a:t>
            </a:r>
          </a:p>
        </p:txBody>
      </p:sp>
      <p:sp>
        <p:nvSpPr>
          <p:cNvPr id="17" name="">
            <a:extLst xmlns:a="http://schemas.openxmlformats.org/drawingml/2006/main">
              <a:ext uri="{FF2B5EF4-FFF2-40B4-BE49-F238E27FC236}">
                <a16:creationId xmlns:a16="http://schemas.microsoft.com/office/drawing/2014/main" id="{DE9CEDC7-603D-499B-AEF8-B94E1D707984}"/>
              </a:ext>
            </a:extLst>
          </p:cNvPr>
          <p:cNvSpPr>
            <a:spLocks xmlns:a="http://schemas.openxmlformats.org/drawingml/2006/main" noGrp="1"/>
          </p:cNvSpPr>
          <p:nvPr/>
        </p:nvSpPr>
        <p:spPr>
          <a:xfrm xmlns:a="http://schemas.openxmlformats.org/drawingml/2006/main">
            <a:off x="4333875" y="3600450"/>
            <a:ext cx="647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53616A"/>
                </a:solidFill>
                <a:latin typeface="Arial"/>
                <a:ea typeface="Arial"/>
                <a:cs typeface="Arial"/>
              </a:defRPr>
            </a:pPr>
            <a:r>
              <a:rPr sz="1650" b="0">
                <a:solidFill>
                  <a:srgbClr val="53616A"/>
                </a:solidFill>
                <a:latin typeface="Arial"/>
                <a:ea typeface="Arial"/>
                <a:cs typeface="Arial"/>
              </a:rPr>
              <a:t>One profile or one way to obtain a document</a:t>
            </a:r>
          </a:p>
        </p:txBody>
      </p:sp>
      <p:sp>
        <p:nvSpPr>
          <p:cNvPr id="18" name="">
            <a:extLst xmlns:a="http://schemas.openxmlformats.org/drawingml/2006/main">
              <a:ext uri="{FF2B5EF4-FFF2-40B4-BE49-F238E27FC236}">
                <a16:creationId xmlns:a16="http://schemas.microsoft.com/office/drawing/2014/main" id="{A736C285-2B03-44EA-B270-3099B80F3FC9}"/>
              </a:ext>
            </a:extLst>
          </p:cNvPr>
          <p:cNvSpPr>
            <a:spLocks xmlns:a="http://schemas.openxmlformats.org/drawingml/2006/main" noGrp="1"/>
          </p:cNvSpPr>
          <p:nvPr/>
        </p:nvSpPr>
        <p:spPr>
          <a:xfrm xmlns:a="http://schemas.openxmlformats.org/drawingml/2006/main">
            <a:off x="1257300" y="4286250"/>
            <a:ext cx="0" cy="342900"/>
          </a:xfrm>
          <a:prstGeom xmlns:a="http://schemas.openxmlformats.org/drawingml/2006/main" prst="line">
            <a:avLst/>
          </a:prstGeom>
          <a:noFill xmlns:a="http://schemas.openxmlformats.org/drawingml/2006/main"/>
          <a:ln xmlns:a="http://schemas.openxmlformats.org/drawingml/2006/main" w="28575">
            <a:solidFill>
              <a:srgbClr val="D9DDE0"/>
            </a:solidFill>
            <a:prstDash val="solid"/>
          </a:ln>
        </p:spPr>
      </p:sp>
      <p:sp>
        <p:nvSpPr>
          <p:cNvPr id="19" name="">
            <a:extLst xmlns:a="http://schemas.openxmlformats.org/drawingml/2006/main">
              <a:ext uri="{FF2B5EF4-FFF2-40B4-BE49-F238E27FC236}">
                <a16:creationId xmlns:a16="http://schemas.microsoft.com/office/drawing/2014/main" id="{B310614F-677A-48CF-8E04-55C56C755601}"/>
              </a:ext>
            </a:extLst>
          </p:cNvPr>
          <p:cNvSpPr>
            <a:spLocks xmlns:a="http://schemas.openxmlformats.org/drawingml/2006/main" noGrp="1"/>
          </p:cNvSpPr>
          <p:nvPr/>
        </p:nvSpPr>
        <p:spPr>
          <a:xfrm xmlns:a="http://schemas.openxmlformats.org/drawingml/2006/main">
            <a:off x="952500" y="4714875"/>
            <a:ext cx="609600" cy="609600"/>
          </a:xfrm>
          <a:prstGeom xmlns:a="http://schemas.openxmlformats.org/drawingml/2006/main" prst="ellipse">
            <a:avLst/>
          </a:prstGeom>
          <a:solidFill xmlns:a="http://schemas.openxmlformats.org/drawingml/2006/main">
            <a:srgbClr val="10283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A8C1D66-3700-4D62-B9FB-B0BA4DB8036B}"/>
              </a:ext>
            </a:extLst>
          </p:cNvPr>
          <p:cNvSpPr>
            <a:spLocks xmlns:a="http://schemas.openxmlformats.org/drawingml/2006/main" noGrp="1"/>
          </p:cNvSpPr>
          <p:nvPr/>
        </p:nvSpPr>
        <p:spPr>
          <a:xfrm xmlns:a="http://schemas.openxmlformats.org/drawingml/2006/main">
            <a:off x="952500" y="4714875"/>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7E4DD74F-AEDF-41F3-9803-31E2DE55D21E}"/>
              </a:ext>
            </a:extLst>
          </p:cNvPr>
          <p:cNvSpPr>
            <a:spLocks xmlns:a="http://schemas.openxmlformats.org/drawingml/2006/main" noGrp="1"/>
          </p:cNvSpPr>
          <p:nvPr/>
        </p:nvSpPr>
        <p:spPr>
          <a:xfrm xmlns:a="http://schemas.openxmlformats.org/drawingml/2006/main">
            <a:off x="1885950" y="46672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0283B"/>
                </a:solidFill>
                <a:latin typeface="Arial"/>
                <a:ea typeface="Arial"/>
                <a:cs typeface="Arial"/>
              </a:defRPr>
            </a:pPr>
            <a:r>
              <a:rPr sz="2025" b="1">
                <a:solidFill>
                  <a:srgbClr val="10283B"/>
                </a:solidFill>
                <a:latin typeface="Arial"/>
                <a:ea typeface="Arial"/>
                <a:cs typeface="Arial"/>
              </a:rPr>
              <a:t>Test</a:t>
            </a:r>
          </a:p>
        </p:txBody>
      </p:sp>
      <p:sp>
        <p:nvSpPr>
          <p:cNvPr id="22" name="">
            <a:extLst xmlns:a="http://schemas.openxmlformats.org/drawingml/2006/main">
              <a:ext uri="{FF2B5EF4-FFF2-40B4-BE49-F238E27FC236}">
                <a16:creationId xmlns:a16="http://schemas.microsoft.com/office/drawing/2014/main" id="{8B7A0851-4170-450B-A86C-FFF30AF23387}"/>
              </a:ext>
            </a:extLst>
          </p:cNvPr>
          <p:cNvSpPr>
            <a:spLocks xmlns:a="http://schemas.openxmlformats.org/drawingml/2006/main" noGrp="1"/>
          </p:cNvSpPr>
          <p:nvPr/>
        </p:nvSpPr>
        <p:spPr>
          <a:xfrm xmlns:a="http://schemas.openxmlformats.org/drawingml/2006/main">
            <a:off x="4333875" y="4667250"/>
            <a:ext cx="647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53616A"/>
                </a:solidFill>
                <a:latin typeface="Arial"/>
                <a:ea typeface="Arial"/>
                <a:cs typeface="Arial"/>
              </a:defRPr>
            </a:pPr>
            <a:r>
              <a:rPr sz="1650" b="0">
                <a:solidFill>
                  <a:srgbClr val="53616A"/>
                </a:solidFill>
                <a:latin typeface="Arial"/>
                <a:ea typeface="Arial"/>
                <a:cs typeface="Arial"/>
              </a:rPr>
              <a:t>One assertion with its own result</a:t>
            </a:r>
          </a:p>
        </p:txBody>
      </p:sp>
      <p:sp>
        <p:nvSpPr>
          <p:cNvPr id="23" name="">
            <a:extLst xmlns:a="http://schemas.openxmlformats.org/drawingml/2006/main">
              <a:ext uri="{FF2B5EF4-FFF2-40B4-BE49-F238E27FC236}">
                <a16:creationId xmlns:a16="http://schemas.microsoft.com/office/drawing/2014/main" id="{AC3B09E5-9D0E-4167-9669-04256D873039}"/>
              </a:ext>
            </a:extLst>
          </p:cNvPr>
          <p:cNvSpPr>
            <a:spLocks xmlns:a="http://schemas.openxmlformats.org/drawingml/2006/main" noGrp="1"/>
          </p:cNvSpPr>
          <p:nvPr/>
        </p:nvSpPr>
        <p:spPr>
          <a:xfrm xmlns:a="http://schemas.openxmlformats.org/drawingml/2006/main">
            <a:off x="1885950" y="58102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9D3E13"/>
                </a:solidFill>
                <a:latin typeface="Arial"/>
                <a:ea typeface="Arial"/>
                <a:cs typeface="Arial"/>
              </a:defRPr>
            </a:pPr>
            <a:r>
              <a:rPr sz="1425" b="1">
                <a:solidFill>
                  <a:srgbClr val="9D3E13"/>
                </a:solidFill>
                <a:latin typeface="Arial"/>
                <a:ea typeface="Arial"/>
                <a:cs typeface="Arial"/>
              </a:rPr>
              <a:t>While fixing a problem, rerun the smallest relevant group.</a:t>
            </a:r>
          </a:p>
        </p:txBody>
      </p:sp>
    </p:spTree>
    <p:extLst>
      <p:ext uri="{BB962C8B-B14F-4D97-AF65-F5344CB8AC3E}">
        <p14:creationId xmlns:p14="http://schemas.microsoft.com/office/powerpoint/2010/main" val="552312143"/>
      </p:ext>
    </p:extLst>
  </p:cSld>
</p:sld>
</file>

<file path=ppt/slides/slide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FE6F79-229D-474D-9EEF-83665BF47D5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F6A2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4E06AC-C65B-4B8A-96D4-9960BC9B1129}"/>
              </a:ext>
            </a:extLst>
          </p:cNvPr>
          <p:cNvSpPr>
            <a:spLocks xmlns:a="http://schemas.openxmlformats.org/drawingml/2006/main" noGrp="1"/>
          </p:cNvSpPr>
          <p:nvPr/>
        </p:nvSpPr>
        <p:spPr>
          <a:xfrm xmlns:a="http://schemas.openxmlformats.org/drawingml/2006/main">
            <a:off x="685800" y="6381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9D3E13"/>
                </a:solidFill>
                <a:latin typeface="Arial"/>
                <a:ea typeface="Arial"/>
                <a:cs typeface="Arial"/>
              </a:defRPr>
            </a:pPr>
            <a:r>
              <a:rPr sz="825" b="1">
                <a:solidFill>
                  <a:srgbClr val="9D3E13"/>
                </a:solidFill>
                <a:latin typeface="Arial"/>
                <a:ea typeface="Arial"/>
                <a:cs typeface="Arial"/>
              </a:rPr>
              <a:t>SPARKED FHIR AU</a:t>
            </a:r>
          </a:p>
        </p:txBody>
      </p:sp>
      <p:sp>
        <p:nvSpPr>
          <p:cNvPr id="3" name="">
            <a:extLst xmlns:a="http://schemas.openxmlformats.org/drawingml/2006/main">
              <a:ext uri="{FF2B5EF4-FFF2-40B4-BE49-F238E27FC236}">
                <a16:creationId xmlns:a16="http://schemas.microsoft.com/office/drawing/2014/main" id="{708253E8-3B4E-486B-85F8-4561F78331AB}"/>
              </a:ext>
            </a:extLst>
          </p:cNvPr>
          <p:cNvSpPr>
            <a:spLocks xmlns:a="http://schemas.openxmlformats.org/drawingml/2006/main" noGrp="1"/>
          </p:cNvSpPr>
          <p:nvPr/>
        </p:nvSpPr>
        <p:spPr>
          <a:xfrm xmlns:a="http://schemas.openxmlformats.org/drawingml/2006/main">
            <a:off x="685800" y="49530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83B"/>
                </a:solidFill>
                <a:latin typeface="Arial"/>
                <a:ea typeface="Arial"/>
                <a:cs typeface="Arial"/>
              </a:defRPr>
            </a:pPr>
            <a:r>
              <a:rPr sz="2850" b="1">
                <a:solidFill>
                  <a:srgbClr val="10283B"/>
                </a:solidFill>
                <a:latin typeface="Arial"/>
                <a:ea typeface="Arial"/>
                <a:cs typeface="Arial"/>
              </a:rPr>
              <a:t>Reading a result</a:t>
            </a:r>
          </a:p>
        </p:txBody>
      </p:sp>
      <p:sp>
        <p:nvSpPr>
          <p:cNvPr id="4" name="">
            <a:extLst xmlns:a="http://schemas.openxmlformats.org/drawingml/2006/main">
              <a:ext uri="{FF2B5EF4-FFF2-40B4-BE49-F238E27FC236}">
                <a16:creationId xmlns:a16="http://schemas.microsoft.com/office/drawing/2014/main" id="{E7F32BDC-E011-4810-A3D1-F2F5A5CDFA3D}"/>
              </a:ext>
            </a:extLst>
          </p:cNvPr>
          <p:cNvSpPr>
            <a:spLocks xmlns:a="http://schemas.openxmlformats.org/drawingml/2006/main" noGrp="1"/>
          </p:cNvSpPr>
          <p:nvPr/>
        </p:nvSpPr>
        <p:spPr>
          <a:xfrm xmlns:a="http://schemas.openxmlformats.org/drawingml/2006/main">
            <a:off x="1047750" y="1381125"/>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277A55"/>
                </a:solidFill>
                <a:latin typeface="Arial"/>
                <a:ea typeface="Arial"/>
                <a:cs typeface="Arial"/>
              </a:defRPr>
            </a:pPr>
            <a:r>
              <a:rPr sz="2175" b="1">
                <a:solidFill>
                  <a:srgbClr val="277A55"/>
                </a:solidFill>
                <a:latin typeface="Arial"/>
                <a:ea typeface="Arial"/>
                <a:cs typeface="Arial"/>
              </a:rPr>
              <a:t>Pass</a:t>
            </a:r>
          </a:p>
        </p:txBody>
      </p:sp>
      <p:sp>
        <p:nvSpPr>
          <p:cNvPr id="5" name="">
            <a:extLst xmlns:a="http://schemas.openxmlformats.org/drawingml/2006/main">
              <a:ext uri="{FF2B5EF4-FFF2-40B4-BE49-F238E27FC236}">
                <a16:creationId xmlns:a16="http://schemas.microsoft.com/office/drawing/2014/main" id="{2D01101F-8D9F-4170-BC80-809417A530C2}"/>
              </a:ext>
            </a:extLst>
          </p:cNvPr>
          <p:cNvSpPr>
            <a:spLocks xmlns:a="http://schemas.openxmlformats.org/drawingml/2006/main" noGrp="1"/>
          </p:cNvSpPr>
          <p:nvPr/>
        </p:nvSpPr>
        <p:spPr>
          <a:xfrm xmlns:a="http://schemas.openxmlformats.org/drawingml/2006/main">
            <a:off x="2857500" y="1381125"/>
            <a:ext cx="733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0283B"/>
                </a:solidFill>
                <a:latin typeface="Arial"/>
                <a:ea typeface="Arial"/>
                <a:cs typeface="Arial"/>
              </a:defRPr>
            </a:pPr>
            <a:r>
              <a:rPr sz="1800" b="0">
                <a:solidFill>
                  <a:srgbClr val="10283B"/>
                </a:solidFill>
                <a:latin typeface="Arial"/>
                <a:ea typeface="Arial"/>
                <a:cs typeface="Arial"/>
              </a:rPr>
              <a:t>The assertion held</a:t>
            </a:r>
          </a:p>
        </p:txBody>
      </p:sp>
      <p:sp>
        <p:nvSpPr>
          <p:cNvPr id="6" name="">
            <a:extLst xmlns:a="http://schemas.openxmlformats.org/drawingml/2006/main">
              <a:ext uri="{FF2B5EF4-FFF2-40B4-BE49-F238E27FC236}">
                <a16:creationId xmlns:a16="http://schemas.microsoft.com/office/drawing/2014/main" id="{1608728D-8E97-478F-A8B8-2B9D30B75E3C}"/>
              </a:ext>
            </a:extLst>
          </p:cNvPr>
          <p:cNvSpPr>
            <a:spLocks xmlns:a="http://schemas.openxmlformats.org/drawingml/2006/main" noGrp="1"/>
          </p:cNvSpPr>
          <p:nvPr/>
        </p:nvSpPr>
        <p:spPr>
          <a:xfrm xmlns:a="http://schemas.openxmlformats.org/drawingml/2006/main">
            <a:off x="1047750" y="1962150"/>
            <a:ext cx="9144000" cy="0"/>
          </a:xfrm>
          <a:prstGeom xmlns:a="http://schemas.openxmlformats.org/drawingml/2006/main" prst="line">
            <a:avLst/>
          </a:prstGeom>
          <a:noFill xmlns:a="http://schemas.openxmlformats.org/drawingml/2006/main"/>
          <a:ln xmlns:a="http://schemas.openxmlformats.org/drawingml/2006/main" w="9525">
            <a:solidFill>
              <a:srgbClr val="D9DDE0"/>
            </a:solidFill>
            <a:prstDash val="solid"/>
          </a:ln>
        </p:spPr>
      </p:sp>
      <p:sp>
        <p:nvSpPr>
          <p:cNvPr id="7" name="">
            <a:extLst xmlns:a="http://schemas.openxmlformats.org/drawingml/2006/main">
              <a:ext uri="{FF2B5EF4-FFF2-40B4-BE49-F238E27FC236}">
                <a16:creationId xmlns:a16="http://schemas.microsoft.com/office/drawing/2014/main" id="{7D241A02-4269-4F9B-AC30-00E18FE38C05}"/>
              </a:ext>
            </a:extLst>
          </p:cNvPr>
          <p:cNvSpPr>
            <a:spLocks xmlns:a="http://schemas.openxmlformats.org/drawingml/2006/main" noGrp="1"/>
          </p:cNvSpPr>
          <p:nvPr/>
        </p:nvSpPr>
        <p:spPr>
          <a:xfrm xmlns:a="http://schemas.openxmlformats.org/drawingml/2006/main">
            <a:off x="1047750" y="2219325"/>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C43D3D"/>
                </a:solidFill>
                <a:latin typeface="Arial"/>
                <a:ea typeface="Arial"/>
                <a:cs typeface="Arial"/>
              </a:defRPr>
            </a:pPr>
            <a:r>
              <a:rPr sz="2175" b="1">
                <a:solidFill>
                  <a:srgbClr val="C43D3D"/>
                </a:solidFill>
                <a:latin typeface="Arial"/>
                <a:ea typeface="Arial"/>
                <a:cs typeface="Arial"/>
              </a:rPr>
              <a:t>Fail</a:t>
            </a:r>
          </a:p>
        </p:txBody>
      </p:sp>
      <p:sp>
        <p:nvSpPr>
          <p:cNvPr id="8" name="">
            <a:extLst xmlns:a="http://schemas.openxmlformats.org/drawingml/2006/main">
              <a:ext uri="{FF2B5EF4-FFF2-40B4-BE49-F238E27FC236}">
                <a16:creationId xmlns:a16="http://schemas.microsoft.com/office/drawing/2014/main" id="{615BAF90-3196-4218-874B-B78393B9058A}"/>
              </a:ext>
            </a:extLst>
          </p:cNvPr>
          <p:cNvSpPr>
            <a:spLocks xmlns:a="http://schemas.openxmlformats.org/drawingml/2006/main" noGrp="1"/>
          </p:cNvSpPr>
          <p:nvPr/>
        </p:nvSpPr>
        <p:spPr>
          <a:xfrm xmlns:a="http://schemas.openxmlformats.org/drawingml/2006/main">
            <a:off x="2857500" y="2219325"/>
            <a:ext cx="733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0283B"/>
                </a:solidFill>
                <a:latin typeface="Arial"/>
                <a:ea typeface="Arial"/>
                <a:cs typeface="Arial"/>
              </a:defRPr>
            </a:pPr>
            <a:r>
              <a:rPr sz="1800" b="0">
                <a:solidFill>
                  <a:srgbClr val="10283B"/>
                </a:solidFill>
                <a:latin typeface="Arial"/>
                <a:ea typeface="Arial"/>
                <a:cs typeface="Arial"/>
              </a:rPr>
              <a:t>The assertion did not hold</a:t>
            </a:r>
          </a:p>
        </p:txBody>
      </p:sp>
      <p:sp>
        <p:nvSpPr>
          <p:cNvPr id="9" name="">
            <a:extLst xmlns:a="http://schemas.openxmlformats.org/drawingml/2006/main">
              <a:ext uri="{FF2B5EF4-FFF2-40B4-BE49-F238E27FC236}">
                <a16:creationId xmlns:a16="http://schemas.microsoft.com/office/drawing/2014/main" id="{15C7C75B-2649-4FB9-BB33-060ED8C8FA24}"/>
              </a:ext>
            </a:extLst>
          </p:cNvPr>
          <p:cNvSpPr>
            <a:spLocks xmlns:a="http://schemas.openxmlformats.org/drawingml/2006/main" noGrp="1"/>
          </p:cNvSpPr>
          <p:nvPr/>
        </p:nvSpPr>
        <p:spPr>
          <a:xfrm xmlns:a="http://schemas.openxmlformats.org/drawingml/2006/main">
            <a:off x="1047750" y="2800350"/>
            <a:ext cx="9144000" cy="0"/>
          </a:xfrm>
          <a:prstGeom xmlns:a="http://schemas.openxmlformats.org/drawingml/2006/main" prst="line">
            <a:avLst/>
          </a:prstGeom>
          <a:noFill xmlns:a="http://schemas.openxmlformats.org/drawingml/2006/main"/>
          <a:ln xmlns:a="http://schemas.openxmlformats.org/drawingml/2006/main" w="9525">
            <a:solidFill>
              <a:srgbClr val="D9DDE0"/>
            </a:solidFill>
            <a:prstDash val="solid"/>
          </a:ln>
        </p:spPr>
      </p:sp>
      <p:sp>
        <p:nvSpPr>
          <p:cNvPr id="10" name="">
            <a:extLst xmlns:a="http://schemas.openxmlformats.org/drawingml/2006/main">
              <a:ext uri="{FF2B5EF4-FFF2-40B4-BE49-F238E27FC236}">
                <a16:creationId xmlns:a16="http://schemas.microsoft.com/office/drawing/2014/main" id="{5B43720B-FDB4-41CA-85D8-A8AB515BAE8A}"/>
              </a:ext>
            </a:extLst>
          </p:cNvPr>
          <p:cNvSpPr>
            <a:spLocks xmlns:a="http://schemas.openxmlformats.org/drawingml/2006/main" noGrp="1"/>
          </p:cNvSpPr>
          <p:nvPr/>
        </p:nvSpPr>
        <p:spPr>
          <a:xfrm xmlns:a="http://schemas.openxmlformats.org/drawingml/2006/main">
            <a:off x="1047750" y="3057525"/>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B56B00"/>
                </a:solidFill>
                <a:latin typeface="Arial"/>
                <a:ea typeface="Arial"/>
                <a:cs typeface="Arial"/>
              </a:defRPr>
            </a:pPr>
            <a:r>
              <a:rPr sz="2175" b="1">
                <a:solidFill>
                  <a:srgbClr val="B56B00"/>
                </a:solidFill>
                <a:latin typeface="Arial"/>
                <a:ea typeface="Arial"/>
                <a:cs typeface="Arial"/>
              </a:rPr>
              <a:t>Skip</a:t>
            </a:r>
          </a:p>
        </p:txBody>
      </p:sp>
      <p:sp>
        <p:nvSpPr>
          <p:cNvPr id="11" name="">
            <a:extLst xmlns:a="http://schemas.openxmlformats.org/drawingml/2006/main">
              <a:ext uri="{FF2B5EF4-FFF2-40B4-BE49-F238E27FC236}">
                <a16:creationId xmlns:a16="http://schemas.microsoft.com/office/drawing/2014/main" id="{23A26E44-D1AE-42DF-8AA9-1916EBE2FDDA}"/>
              </a:ext>
            </a:extLst>
          </p:cNvPr>
          <p:cNvSpPr>
            <a:spLocks xmlns:a="http://schemas.openxmlformats.org/drawingml/2006/main" noGrp="1"/>
          </p:cNvSpPr>
          <p:nvPr/>
        </p:nvSpPr>
        <p:spPr>
          <a:xfrm xmlns:a="http://schemas.openxmlformats.org/drawingml/2006/main">
            <a:off x="2857500" y="3057525"/>
            <a:ext cx="733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0283B"/>
                </a:solidFill>
                <a:latin typeface="Arial"/>
                <a:ea typeface="Arial"/>
                <a:cs typeface="Arial"/>
              </a:defRPr>
            </a:pPr>
            <a:r>
              <a:rPr sz="1800" b="0">
                <a:solidFill>
                  <a:srgbClr val="10283B"/>
                </a:solidFill>
                <a:latin typeface="Arial"/>
                <a:ea typeface="Arial"/>
                <a:cs typeface="Arial"/>
              </a:rPr>
              <a:t>A precondition was missing</a:t>
            </a:r>
          </a:p>
        </p:txBody>
      </p:sp>
      <p:sp>
        <p:nvSpPr>
          <p:cNvPr id="12" name="">
            <a:extLst xmlns:a="http://schemas.openxmlformats.org/drawingml/2006/main">
              <a:ext uri="{FF2B5EF4-FFF2-40B4-BE49-F238E27FC236}">
                <a16:creationId xmlns:a16="http://schemas.microsoft.com/office/drawing/2014/main" id="{90808029-8C8E-459E-B7A0-4CED51D376DA}"/>
              </a:ext>
            </a:extLst>
          </p:cNvPr>
          <p:cNvSpPr>
            <a:spLocks xmlns:a="http://schemas.openxmlformats.org/drawingml/2006/main" noGrp="1"/>
          </p:cNvSpPr>
          <p:nvPr/>
        </p:nvSpPr>
        <p:spPr>
          <a:xfrm xmlns:a="http://schemas.openxmlformats.org/drawingml/2006/main">
            <a:off x="1047750" y="3638550"/>
            <a:ext cx="9144000" cy="0"/>
          </a:xfrm>
          <a:prstGeom xmlns:a="http://schemas.openxmlformats.org/drawingml/2006/main" prst="line">
            <a:avLst/>
          </a:prstGeom>
          <a:noFill xmlns:a="http://schemas.openxmlformats.org/drawingml/2006/main"/>
          <a:ln xmlns:a="http://schemas.openxmlformats.org/drawingml/2006/main" w="9525">
            <a:solidFill>
              <a:srgbClr val="D9DDE0"/>
            </a:solidFill>
            <a:prstDash val="solid"/>
          </a:ln>
        </p:spPr>
      </p:sp>
      <p:sp>
        <p:nvSpPr>
          <p:cNvPr id="13" name="">
            <a:extLst xmlns:a="http://schemas.openxmlformats.org/drawingml/2006/main">
              <a:ext uri="{FF2B5EF4-FFF2-40B4-BE49-F238E27FC236}">
                <a16:creationId xmlns:a16="http://schemas.microsoft.com/office/drawing/2014/main" id="{120E68CE-AEE6-4854-92F9-9139F0563104}"/>
              </a:ext>
            </a:extLst>
          </p:cNvPr>
          <p:cNvSpPr>
            <a:spLocks xmlns:a="http://schemas.openxmlformats.org/drawingml/2006/main" noGrp="1"/>
          </p:cNvSpPr>
          <p:nvPr/>
        </p:nvSpPr>
        <p:spPr>
          <a:xfrm xmlns:a="http://schemas.openxmlformats.org/drawingml/2006/main">
            <a:off x="1047750" y="3895725"/>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626970"/>
                </a:solidFill>
                <a:latin typeface="Arial"/>
                <a:ea typeface="Arial"/>
                <a:cs typeface="Arial"/>
              </a:defRPr>
            </a:pPr>
            <a:r>
              <a:rPr sz="2175" b="1">
                <a:solidFill>
                  <a:srgbClr val="626970"/>
                </a:solidFill>
                <a:latin typeface="Arial"/>
                <a:ea typeface="Arial"/>
                <a:cs typeface="Arial"/>
              </a:rPr>
              <a:t>Omit</a:t>
            </a:r>
          </a:p>
        </p:txBody>
      </p:sp>
      <p:sp>
        <p:nvSpPr>
          <p:cNvPr id="14" name="">
            <a:extLst xmlns:a="http://schemas.openxmlformats.org/drawingml/2006/main">
              <a:ext uri="{FF2B5EF4-FFF2-40B4-BE49-F238E27FC236}">
                <a16:creationId xmlns:a16="http://schemas.microsoft.com/office/drawing/2014/main" id="{BE030E2D-E93D-43C7-9074-EE6765842A6D}"/>
              </a:ext>
            </a:extLst>
          </p:cNvPr>
          <p:cNvSpPr>
            <a:spLocks xmlns:a="http://schemas.openxmlformats.org/drawingml/2006/main" noGrp="1"/>
          </p:cNvSpPr>
          <p:nvPr/>
        </p:nvSpPr>
        <p:spPr>
          <a:xfrm xmlns:a="http://schemas.openxmlformats.org/drawingml/2006/main">
            <a:off x="2857500" y="3895725"/>
            <a:ext cx="733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0283B"/>
                </a:solidFill>
                <a:latin typeface="Arial"/>
                <a:ea typeface="Arial"/>
                <a:cs typeface="Arial"/>
              </a:defRPr>
            </a:pPr>
            <a:r>
              <a:rPr sz="1800" b="0">
                <a:solidFill>
                  <a:srgbClr val="10283B"/>
                </a:solidFill>
                <a:latin typeface="Arial"/>
                <a:ea typeface="Arial"/>
                <a:cs typeface="Arial"/>
              </a:rPr>
              <a:t>The test did not apply</a:t>
            </a:r>
          </a:p>
        </p:txBody>
      </p:sp>
      <p:sp>
        <p:nvSpPr>
          <p:cNvPr id="15" name="">
            <a:extLst xmlns:a="http://schemas.openxmlformats.org/drawingml/2006/main">
              <a:ext uri="{FF2B5EF4-FFF2-40B4-BE49-F238E27FC236}">
                <a16:creationId xmlns:a16="http://schemas.microsoft.com/office/drawing/2014/main" id="{7A91C2C4-A933-40A4-AA0D-48C08D70E4E2}"/>
              </a:ext>
            </a:extLst>
          </p:cNvPr>
          <p:cNvSpPr>
            <a:spLocks xmlns:a="http://schemas.openxmlformats.org/drawingml/2006/main" noGrp="1"/>
          </p:cNvSpPr>
          <p:nvPr/>
        </p:nvSpPr>
        <p:spPr>
          <a:xfrm xmlns:a="http://schemas.openxmlformats.org/drawingml/2006/main">
            <a:off x="1047750" y="4476750"/>
            <a:ext cx="9144000" cy="0"/>
          </a:xfrm>
          <a:prstGeom xmlns:a="http://schemas.openxmlformats.org/drawingml/2006/main" prst="line">
            <a:avLst/>
          </a:prstGeom>
          <a:noFill xmlns:a="http://schemas.openxmlformats.org/drawingml/2006/main"/>
          <a:ln xmlns:a="http://schemas.openxmlformats.org/drawingml/2006/main" w="9525">
            <a:solidFill>
              <a:srgbClr val="D9DDE0"/>
            </a:solidFill>
            <a:prstDash val="solid"/>
          </a:ln>
        </p:spPr>
      </p:sp>
      <p:sp>
        <p:nvSpPr>
          <p:cNvPr id="16" name="">
            <a:extLst xmlns:a="http://schemas.openxmlformats.org/drawingml/2006/main">
              <a:ext uri="{FF2B5EF4-FFF2-40B4-BE49-F238E27FC236}">
                <a16:creationId xmlns:a16="http://schemas.microsoft.com/office/drawing/2014/main" id="{000C2E22-776E-4614-B5EB-1CB69E4E5ACC}"/>
              </a:ext>
            </a:extLst>
          </p:cNvPr>
          <p:cNvSpPr>
            <a:spLocks xmlns:a="http://schemas.openxmlformats.org/drawingml/2006/main" noGrp="1"/>
          </p:cNvSpPr>
          <p:nvPr/>
        </p:nvSpPr>
        <p:spPr>
          <a:xfrm xmlns:a="http://schemas.openxmlformats.org/drawingml/2006/main">
            <a:off x="1047750" y="4733925"/>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7A3E91"/>
                </a:solidFill>
                <a:latin typeface="Arial"/>
                <a:ea typeface="Arial"/>
                <a:cs typeface="Arial"/>
              </a:defRPr>
            </a:pPr>
            <a:r>
              <a:rPr sz="2175" b="1">
                <a:solidFill>
                  <a:srgbClr val="7A3E91"/>
                </a:solidFill>
                <a:latin typeface="Arial"/>
                <a:ea typeface="Arial"/>
                <a:cs typeface="Arial"/>
              </a:rPr>
              <a:t>Error</a:t>
            </a:r>
          </a:p>
        </p:txBody>
      </p:sp>
      <p:sp>
        <p:nvSpPr>
          <p:cNvPr id="17" name="">
            <a:extLst xmlns:a="http://schemas.openxmlformats.org/drawingml/2006/main">
              <a:ext uri="{FF2B5EF4-FFF2-40B4-BE49-F238E27FC236}">
                <a16:creationId xmlns:a16="http://schemas.microsoft.com/office/drawing/2014/main" id="{A3E9DF16-60FB-402C-8776-7886F270DD4C}"/>
              </a:ext>
            </a:extLst>
          </p:cNvPr>
          <p:cNvSpPr>
            <a:spLocks xmlns:a="http://schemas.openxmlformats.org/drawingml/2006/main" noGrp="1"/>
          </p:cNvSpPr>
          <p:nvPr/>
        </p:nvSpPr>
        <p:spPr>
          <a:xfrm xmlns:a="http://schemas.openxmlformats.org/drawingml/2006/main">
            <a:off x="2857500" y="4733925"/>
            <a:ext cx="733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10283B"/>
                </a:solidFill>
                <a:latin typeface="Arial"/>
                <a:ea typeface="Arial"/>
                <a:cs typeface="Arial"/>
              </a:defRPr>
            </a:pPr>
            <a:r>
              <a:rPr sz="1800" b="0">
                <a:solidFill>
                  <a:srgbClr val="10283B"/>
                </a:solidFill>
                <a:latin typeface="Arial"/>
                <a:ea typeface="Arial"/>
                <a:cs typeface="Arial"/>
              </a:rPr>
              <a:t>Something unexpected happened</a:t>
            </a:r>
          </a:p>
        </p:txBody>
      </p:sp>
      <p:sp>
        <p:nvSpPr>
          <p:cNvPr id="18" name="">
            <a:extLst xmlns:a="http://schemas.openxmlformats.org/drawingml/2006/main">
              <a:ext uri="{FF2B5EF4-FFF2-40B4-BE49-F238E27FC236}">
                <a16:creationId xmlns:a16="http://schemas.microsoft.com/office/drawing/2014/main" id="{31626EA7-4812-4881-BBAF-82056EA78CD8}"/>
              </a:ext>
            </a:extLst>
          </p:cNvPr>
          <p:cNvSpPr>
            <a:spLocks xmlns:a="http://schemas.openxmlformats.org/drawingml/2006/main" noGrp="1"/>
          </p:cNvSpPr>
          <p:nvPr/>
        </p:nvSpPr>
        <p:spPr>
          <a:xfrm xmlns:a="http://schemas.openxmlformats.org/drawingml/2006/main">
            <a:off x="1047750" y="5314950"/>
            <a:ext cx="9144000" cy="0"/>
          </a:xfrm>
          <a:prstGeom xmlns:a="http://schemas.openxmlformats.org/drawingml/2006/main" prst="line">
            <a:avLst/>
          </a:prstGeom>
          <a:noFill xmlns:a="http://schemas.openxmlformats.org/drawingml/2006/main"/>
          <a:ln xmlns:a="http://schemas.openxmlformats.org/drawingml/2006/main" w="9525">
            <a:solidFill>
              <a:srgbClr val="D9DDE0"/>
            </a:solidFill>
            <a:prstDash val="solid"/>
          </a:ln>
        </p:spPr>
      </p:sp>
      <p:sp>
        <p:nvSpPr>
          <p:cNvPr id="19" name="">
            <a:extLst xmlns:a="http://schemas.openxmlformats.org/drawingml/2006/main">
              <a:ext uri="{FF2B5EF4-FFF2-40B4-BE49-F238E27FC236}">
                <a16:creationId xmlns:a16="http://schemas.microsoft.com/office/drawing/2014/main" id="{3CFC7FD8-8789-4ADE-BDBC-A876A4B849F7}"/>
              </a:ext>
            </a:extLst>
          </p:cNvPr>
          <p:cNvSpPr>
            <a:spLocks xmlns:a="http://schemas.openxmlformats.org/drawingml/2006/main" noGrp="1"/>
          </p:cNvSpPr>
          <p:nvPr/>
        </p:nvSpPr>
        <p:spPr>
          <a:xfrm xmlns:a="http://schemas.openxmlformats.org/drawingml/2006/main">
            <a:off x="1047750" y="5762625"/>
            <a:ext cx="914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9D3E13"/>
                </a:solidFill>
                <a:latin typeface="Arial"/>
                <a:ea typeface="Arial"/>
                <a:cs typeface="Arial"/>
              </a:defRPr>
            </a:pPr>
            <a:r>
              <a:rPr sz="1575" b="1">
                <a:solidFill>
                  <a:srgbClr val="9D3E13"/>
                </a:solidFill>
                <a:latin typeface="Arial"/>
                <a:ea typeface="Arial"/>
                <a:cs typeface="Arial"/>
              </a:rPr>
              <a:t>A passing test can still contain warnings and useful information.</a:t>
            </a:r>
          </a:p>
        </p:txBody>
      </p:sp>
    </p:spTree>
    <p:extLst>
      <p:ext uri="{BB962C8B-B14F-4D97-AF65-F5344CB8AC3E}">
        <p14:creationId xmlns:p14="http://schemas.microsoft.com/office/powerpoint/2010/main" val="46315698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1f28a268b1045a0"/>
          <a:srcRect xmlns:a="http://schemas.openxmlformats.org/drawingml/2006/main" l="80" t="0" r="8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2F0F286-C4B2-45F1-BB5D-C96F3D3DBFD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F6A2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5E0993-4826-41D9-8034-1C3B7F3741EC}"/>
              </a:ext>
            </a:extLst>
          </p:cNvPr>
          <p:cNvSpPr>
            <a:spLocks xmlns:a="http://schemas.openxmlformats.org/drawingml/2006/main" noGrp="1"/>
          </p:cNvSpPr>
          <p:nvPr/>
        </p:nvSpPr>
        <p:spPr>
          <a:xfrm xmlns:a="http://schemas.openxmlformats.org/drawingml/2006/main">
            <a:off x="685800" y="6381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25" b="1">
                <a:solidFill>
                  <a:srgbClr val="FFFFFF"/>
                </a:solidFill>
                <a:latin typeface="Arial"/>
                <a:ea typeface="Arial"/>
                <a:cs typeface="Arial"/>
              </a:defRPr>
            </a:pPr>
            <a:r>
              <a:rPr sz="825" b="1">
                <a:solidFill>
                  <a:srgbClr val="FFFFFF"/>
                </a:solidFill>
                <a:latin typeface="Arial"/>
                <a:ea typeface="Arial"/>
                <a:cs typeface="Arial"/>
              </a:rPr>
              <a:t>SPARKED FHIR AU</a:t>
            </a:r>
          </a:p>
        </p:txBody>
      </p:sp>
      <p:sp>
        <p:nvSpPr>
          <p:cNvPr id="4" name="">
            <a:extLst xmlns:a="http://schemas.openxmlformats.org/drawingml/2006/main">
              <a:ext uri="{FF2B5EF4-FFF2-40B4-BE49-F238E27FC236}">
                <a16:creationId xmlns:a16="http://schemas.microsoft.com/office/drawing/2014/main" id="{E6D4BD90-4122-41B7-A3E8-8D9A866C6A8A}"/>
              </a:ext>
            </a:extLst>
          </p:cNvPr>
          <p:cNvSpPr>
            <a:spLocks xmlns:a="http://schemas.openxmlformats.org/drawingml/2006/main" noGrp="1"/>
          </p:cNvSpPr>
          <p:nvPr/>
        </p:nvSpPr>
        <p:spPr>
          <a:xfrm xmlns:a="http://schemas.openxmlformats.org/drawingml/2006/main">
            <a:off x="800100" y="838200"/>
            <a:ext cx="714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Keep the session URL</a:t>
            </a:r>
          </a:p>
        </p:txBody>
      </p:sp>
      <p:sp>
        <p:nvSpPr>
          <p:cNvPr id="5" name="">
            <a:extLst xmlns:a="http://schemas.openxmlformats.org/drawingml/2006/main">
              <a:ext uri="{FF2B5EF4-FFF2-40B4-BE49-F238E27FC236}">
                <a16:creationId xmlns:a16="http://schemas.microsoft.com/office/drawing/2014/main" id="{DB475ECB-801F-42F4-8C39-D5AD867BBD7C}"/>
              </a:ext>
            </a:extLst>
          </p:cNvPr>
          <p:cNvSpPr>
            <a:spLocks xmlns:a="http://schemas.openxmlformats.org/drawingml/2006/main" noGrp="1"/>
          </p:cNvSpPr>
          <p:nvPr/>
        </p:nvSpPr>
        <p:spPr>
          <a:xfrm xmlns:a="http://schemas.openxmlformats.org/drawingml/2006/main">
            <a:off x="838200" y="1676400"/>
            <a:ext cx="647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F7EFD8"/>
                </a:solidFill>
                <a:latin typeface="Arial"/>
                <a:ea typeface="Arial"/>
                <a:cs typeface="Arial"/>
              </a:defRPr>
            </a:pPr>
            <a:r>
              <a:rPr sz="1950" b="0">
                <a:solidFill>
                  <a:srgbClr val="F7EFD8"/>
                </a:solidFill>
                <a:latin typeface="Arial"/>
                <a:ea typeface="Arial"/>
                <a:cs typeface="Arial"/>
              </a:rPr>
              <a:t>It lets someone else inspect the same run and request evidence.</a:t>
            </a:r>
          </a:p>
        </p:txBody>
      </p:sp>
      <p:sp>
        <p:nvSpPr>
          <p:cNvPr id="6" name="">
            <a:extLst xmlns:a="http://schemas.openxmlformats.org/drawingml/2006/main">
              <a:ext uri="{FF2B5EF4-FFF2-40B4-BE49-F238E27FC236}">
                <a16:creationId xmlns:a16="http://schemas.microsoft.com/office/drawing/2014/main" id="{83575822-D829-4F32-8870-282AB3874E64}"/>
              </a:ext>
            </a:extLst>
          </p:cNvPr>
          <p:cNvSpPr>
            <a:spLocks xmlns:a="http://schemas.openxmlformats.org/drawingml/2006/main" noGrp="1"/>
          </p:cNvSpPr>
          <p:nvPr/>
        </p:nvSpPr>
        <p:spPr>
          <a:xfrm xmlns:a="http://schemas.openxmlformats.org/drawingml/2006/main">
            <a:off x="838200" y="2971800"/>
            <a:ext cx="6000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Messages explain the finding</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Requests show the HTTP evidence</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Report preserves a printable summary</a:t>
            </a:r>
          </a:p>
        </p:txBody>
      </p:sp>
      <p:sp>
        <p:nvSpPr>
          <p:cNvPr id="7" name="">
            <a:extLst xmlns:a="http://schemas.openxmlformats.org/drawingml/2006/main">
              <a:ext uri="{FF2B5EF4-FFF2-40B4-BE49-F238E27FC236}">
                <a16:creationId xmlns:a16="http://schemas.microsoft.com/office/drawing/2014/main" id="{CBCC57DA-5433-47CB-8530-366E1EFE1728}"/>
              </a:ext>
            </a:extLst>
          </p:cNvPr>
          <p:cNvSpPr>
            <a:spLocks xmlns:a="http://schemas.openxmlformats.org/drawingml/2006/main" noGrp="1"/>
          </p:cNvSpPr>
          <p:nvPr/>
        </p:nvSpPr>
        <p:spPr>
          <a:xfrm xmlns:a="http://schemas.openxmlformats.org/drawingml/2006/main">
            <a:off x="838200" y="50482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8A4A"/>
                </a:solidFill>
                <a:latin typeface="Arial"/>
                <a:ea typeface="Arial"/>
                <a:cs typeface="Arial"/>
              </a:defRPr>
            </a:pPr>
            <a:r>
              <a:rPr sz="2025" b="1">
                <a:solidFill>
                  <a:srgbClr val="FF8A4A"/>
                </a:solidFill>
                <a:latin typeface="Arial"/>
                <a:ea typeface="Arial"/>
                <a:cs typeface="Arial"/>
              </a:rPr>
              <a:t>inferno.hl7.org.au/guidance/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507fc1c82db4118"/>
          <a:stretch xmlns:a="http://schemas.openxmlformats.org/drawingml/2006/main"/>
        </p:blipFill>
        <p:spPr>
          <a:xfrm xmlns:a="http://schemas.openxmlformats.org/drawingml/2006/main">
            <a:off x="8334375" y="1238250"/>
            <a:ext cx="2667000" cy="2667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BA36351-EB3E-4ACE-BCCA-14C11CE71987}"/>
              </a:ext>
            </a:extLst>
          </p:cNvPr>
          <p:cNvSpPr>
            <a:spLocks xmlns:a="http://schemas.openxmlformats.org/drawingml/2006/main" noGrp="1"/>
          </p:cNvSpPr>
          <p:nvPr/>
        </p:nvSpPr>
        <p:spPr>
          <a:xfrm xmlns:a="http://schemas.openxmlformats.org/drawingml/2006/main">
            <a:off x="8239125" y="43243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Use synthetic data only</a:t>
            </a:r>
          </a:p>
        </p:txBody>
      </p:sp>
      <p:sp>
        <p:nvSpPr>
          <p:cNvPr id="10" name="">
            <a:extLst xmlns:a="http://schemas.openxmlformats.org/drawingml/2006/main">
              <a:ext uri="{FF2B5EF4-FFF2-40B4-BE49-F238E27FC236}">
                <a16:creationId xmlns:a16="http://schemas.microsoft.com/office/drawing/2014/main" id="{89ABFEC1-7F1E-4330-BF9B-399F442597FE}"/>
              </a:ext>
            </a:extLst>
          </p:cNvPr>
          <p:cNvSpPr>
            <a:spLocks xmlns:a="http://schemas.openxmlformats.org/drawingml/2006/main" noGrp="1"/>
          </p:cNvSpPr>
          <p:nvPr/>
        </p:nvSpPr>
        <p:spPr>
          <a:xfrm xmlns:a="http://schemas.openxmlformats.org/drawingml/2006/main">
            <a:off x="7953375" y="48768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7EFD8"/>
                </a:solidFill>
                <a:latin typeface="Arial"/>
                <a:ea typeface="Arial"/>
                <a:cs typeface="Arial"/>
              </a:defRPr>
            </a:pPr>
            <a:r>
              <a:rPr sz="1275" b="0">
                <a:solidFill>
                  <a:srgbClr val="F7EFD8"/>
                </a:solidFill>
                <a:latin typeface="Arial"/>
                <a:ea typeface="Arial"/>
                <a:cs typeface="Arial"/>
              </a:rPr>
              <a:t>Reference testing, not certification</a:t>
            </a:r>
          </a:p>
        </p:txBody>
      </p:sp>
    </p:spTree>
    <p:extLst>
      <p:ext uri="{BB962C8B-B14F-4D97-AF65-F5344CB8AC3E}">
        <p14:creationId xmlns:p14="http://schemas.microsoft.com/office/powerpoint/2010/main" val="4950736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2026-09-11T05:34:32.1970000Z</dcterms:created>
  <dcterms:modified xsi:type="dcterms:W3CDTF">2026-09-11T05:34:32.1970000Z</dcterms:modified>
</coreProperties>
</file>