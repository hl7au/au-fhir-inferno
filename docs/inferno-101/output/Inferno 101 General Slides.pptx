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4178c2c948470a" /><Relationship Type="http://schemas.openxmlformats.org/officeDocument/2006/relationships/extended-properties" Target="/docProps/app.xml" Id="R10380dc65e2d4f3c" /><Relationship Type="http://schemas.openxmlformats.org/officeDocument/2006/relationships/officeDocument" Target="/ppt/presentation.xml" Id="R1594f43f9e314b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ddfc5406e84db2"/>
  </p:sldMasterIdLst>
  <p:notesMasterIdLst>
    <p:notesMasterId xmlns:r="http://schemas.openxmlformats.org/officeDocument/2006/relationships" r:id="R0c330a5810e743cb"/>
  </p:notesMasterIdLst>
  <p:sldIdLst>
    <p:sldId xmlns:r="http://schemas.openxmlformats.org/officeDocument/2006/relationships" id="256" r:id="R7772fff3a4644427"/>
    <p:sldId xmlns:r="http://schemas.openxmlformats.org/officeDocument/2006/relationships" id="257" r:id="Raac210b278e14ab7"/>
    <p:sldId xmlns:r="http://schemas.openxmlformats.org/officeDocument/2006/relationships" id="258" r:id="Rc1b28495cbf044c4"/>
    <p:sldId xmlns:r="http://schemas.openxmlformats.org/officeDocument/2006/relationships" id="259" r:id="R6f63a3cf68fc4553"/>
    <p:sldId xmlns:r="http://schemas.openxmlformats.org/officeDocument/2006/relationships" id="260" r:id="Rbd17f51d29184e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24a1a398ce48fb" /><Relationship Type="http://schemas.openxmlformats.org/officeDocument/2006/relationships/slideMaster" Target="/ppt/slideMasters/slideMaster1.xml" Id="R6dddfc5406e84db2" /><Relationship Type="http://schemas.openxmlformats.org/officeDocument/2006/relationships/notesMaster" Target="/ppt/notesMasters/notesMaster1.xml" Id="R0c330a5810e743cb" /><Relationship Type="http://schemas.openxmlformats.org/officeDocument/2006/relationships/presProps" Target="/ppt/presProps.xml" Id="R7d24af49ff824675" /><Relationship Type="http://schemas.openxmlformats.org/officeDocument/2006/relationships/tableStyles" Target="/ppt/tableStyles.xml" Id="R8b4a7cd52ca54962" /><Relationship Type="http://schemas.openxmlformats.org/officeDocument/2006/relationships/slide" Target="/ppt/slides/slide1.xml" Id="R7772fff3a4644427" /><Relationship Type="http://schemas.openxmlformats.org/officeDocument/2006/relationships/slide" Target="/ppt/slides/slide2.xml" Id="Raac210b278e14ab7" /><Relationship Type="http://schemas.openxmlformats.org/officeDocument/2006/relationships/slide" Target="/ppt/slides/slide3.xml" Id="Rc1b28495cbf044c4" /><Relationship Type="http://schemas.openxmlformats.org/officeDocument/2006/relationships/slide" Target="/ppt/slides/slide4.xml" Id="R6f63a3cf68fc4553" /><Relationship Type="http://schemas.openxmlformats.org/officeDocument/2006/relationships/slide" Target="/ppt/slides/slide5.xml" Id="Rbd17f51d29184e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08b9280b8e46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ac5397703b4714" /><Relationship Type="http://schemas.openxmlformats.org/officeDocument/2006/relationships/notesMaster" Target="/ppt/notesMasters/notesMaster1.xml" Id="Rb0468d2bffa94d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da9e414992497a" /><Relationship Type="http://schemas.openxmlformats.org/officeDocument/2006/relationships/notesMaster" Target="/ppt/notesMasters/notesMaster1.xml" Id="R1598cd8b1ae1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2cea1266f445de" /><Relationship Type="http://schemas.openxmlformats.org/officeDocument/2006/relationships/notesMaster" Target="/ppt/notesMasters/notesMaster1.xml" Id="R3499e85b11f142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fcc3e1f6994513" /><Relationship Type="http://schemas.openxmlformats.org/officeDocument/2006/relationships/notesMaster" Target="/ppt/notesMasters/notesMaster1.xml" Id="Rd1ba40bb91c341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0f838440bc4731" /><Relationship Type="http://schemas.openxmlformats.org/officeDocument/2006/relationships/notesMaster" Target="/ppt/notesMasters/notesMaster1.xml" Id="R42f354c3297640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Welcome. This is a short introduction to the HL7 Australia Inferno Test Kits.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 what Inferno checks, when it is useful, and how to approach your first test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https://inferno.hl7.org.au/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FHIR implementation guides describe the rules systems need to follow. Inferno turns selected requirements from a guide into automated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test run can check a FHIR document or interact with a FHIR server. It gives you a repeatable result and the evidence behind that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community reference tests. They help you find implementation problems, but they do not provide certification or confer conformance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https://inferno.hl7.org.au/about/ and planned guidance copy in hl7au/au-fhir-inferno PR 203.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test kit that matches what you built.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AU Patient Summary kit when you have a patient summary Bundle, or a server that supplies or generates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AU Core kit when you operate a FHIR server that another system will query. The test kit page lists the available versions, so select the version that matches your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https://inferno.hl7.org.au/test-kits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your first run, use synthetic test data and start with one small group. A whole suite is useful for a baseline, but it often produces more information than you need while fixing one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first failure before the results that depend on it. A skipped test usually means Inferno could not run the check because a prerequisite was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Messages to understand the finding. For a server test, use Requests to inspect the HTTP evidence. Make one change, rerun the group, and confirm the result changed as expected.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planned guidance copy in hl7au/au-fhir-inferno PR 203.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 is the basic Inferno workflow. Choose the right kit and version, use synthetic data, start with one group, and keep the session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guidance page covers setup, result states, reporting, and support. Separate short videos will demonstrate the AU Patient Summary and AU Core test kits. Thank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https://inferno.hl7.org.au/guidance/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68ebcf118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cdfad4936144b1" /><Relationship Type="http://schemas.openxmlformats.org/officeDocument/2006/relationships/slideLayout" Target="/ppt/slideLayouts/slideLayout1.xml" Id="Rf2fcaa5eb28f44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fcaa5eb28f44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226557a6041e4" /><Relationship Type="http://schemas.openxmlformats.org/officeDocument/2006/relationships/image" Target="/ppt/media/image.png" Id="Ra4d0da10bcfd418d" /><Relationship Type="http://schemas.openxmlformats.org/officeDocument/2006/relationships/notesSlide" Target="/ppt/notesSlides/notesSlide1.xml" Id="R3fdfe71a8f6a49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371eb4a424188" /><Relationship Type="http://schemas.openxmlformats.org/officeDocument/2006/relationships/image" Target="/ppt/media/image2.png" Id="R54e60183863a4b71" /><Relationship Type="http://schemas.openxmlformats.org/officeDocument/2006/relationships/notesSlide" Target="/ppt/notesSlides/notesSlide2.xml" Id="Reeed3a2d7f5c4f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07b357e6a470f" /><Relationship Type="http://schemas.openxmlformats.org/officeDocument/2006/relationships/notesSlide" Target="/ppt/notesSlides/notesSlide3.xml" Id="Re36ba944afa24f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be1b86b09405d" /><Relationship Type="http://schemas.openxmlformats.org/officeDocument/2006/relationships/notesSlide" Target="/ppt/notesSlides/notesSlide4.xml" Id="Re0fd7e2094ef4f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b725246954613" /><Relationship Type="http://schemas.openxmlformats.org/officeDocument/2006/relationships/image" Target="/ppt/media/image3.png" Id="R44b3735029f8439a" /><Relationship Type="http://schemas.openxmlformats.org/officeDocument/2006/relationships/image" Target="/ppt/media/image4.png" Id="R461b245fa33c4c34" /><Relationship Type="http://schemas.openxmlformats.org/officeDocument/2006/relationships/notesSlide" Target="/ppt/notesSlides/notesSlide5.xml" Id="Rc35fc695bba24d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0da10bcfd418d"/>
          <a:stretch xmlns:a="http://schemas.openxmlformats.org/drawingml/2006/main"/>
        </p:blipFill>
        <p:spPr>
          <a:xfrm xmlns:a="http://schemas.openxmlformats.org/drawingml/2006/main">
            <a:off x="4096441" y="609600"/>
            <a:ext cx="3999119" cy="1400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A3011-99B1-4BC0-9213-5C4579E0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Inferno 101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DBBB3-55AE-421E-A251-428F8102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6712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9D3E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D3E13"/>
                </a:solidFill>
                <a:latin typeface="Arial"/>
                <a:ea typeface="Arial"/>
                <a:cs typeface="Arial"/>
              </a:rPr>
              <a:t>What it checks and how to use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35488-93C1-434D-B056-4F8187ED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482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6A"/>
                </a:solidFill>
                <a:latin typeface="Arial"/>
                <a:ea typeface="Arial"/>
                <a:cs typeface="Arial"/>
              </a:rPr>
              <a:t>Four minute introduction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7836B-7B07-4D70-B014-8550A64E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12C9D-6D66-4E08-9C95-67E0F8A8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3E1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3E13"/>
                </a:solidFill>
                <a:latin typeface="Arial"/>
                <a:ea typeface="Arial"/>
                <a:cs typeface="Arial"/>
              </a:rPr>
              <a:t>SPARKED FHIR AU</a:t>
            </a:r>
          </a:p>
        </p:txBody>
      </p:sp>
    </p:spTree>
    <p:extLst>
      <p:ext uri="{BB962C8B-B14F-4D97-AF65-F5344CB8AC3E}">
        <p14:creationId xmlns:p14="http://schemas.microsoft.com/office/powerpoint/2010/main" val="1993074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67D14-64F2-41BE-959C-7D0BB464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966B7-CCB4-4D39-9BFA-4C973194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3E1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3E13"/>
                </a:solidFill>
                <a:latin typeface="Arial"/>
                <a:ea typeface="Arial"/>
                <a:cs typeface="Arial"/>
              </a:rPr>
              <a:t>SPARKED FHIR 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3BB91-B402-4E42-A4CC-170E3F1B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What Inferno does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60183863a4b71"/>
          <a:stretch xmlns:a="http://schemas.openxmlformats.org/drawingml/2006/main"/>
        </p:blipFill>
        <p:spPr>
          <a:xfrm xmlns:a="http://schemas.openxmlformats.org/drawingml/2006/main">
            <a:off x="5095875" y="14668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862B3-0711-4025-A916-0F96B164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8B425-2D53-4B52-AD77-DE875CA3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B49DB-5972-4485-86A4-A5A29643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271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Guide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A30F2-4379-4E37-A9FA-C751A36D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A"/>
                </a:solidFill>
                <a:latin typeface="Arial"/>
                <a:ea typeface="Arial"/>
                <a:cs typeface="Arial"/>
              </a:rPr>
              <a:t>A FHIR implementation guide defines the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FF886-44A0-4220-A4E6-06B1FBAC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475F2-B0FD-4A8F-89F9-52BF9F94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372C1-E407-4D43-BD7B-23F2BC2B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67150"/>
            <a:ext cx="271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D5316-C6D1-469E-A8AD-ACAC3E74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005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A"/>
                </a:solidFill>
                <a:latin typeface="Arial"/>
                <a:ea typeface="Arial"/>
                <a:cs typeface="Arial"/>
              </a:rPr>
              <a:t>Inferno applies selected requirements consistently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3B099-1DB5-4EA1-9B62-7848BE23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50AB7-59AB-40E4-A9F4-316CBD4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B7C81-3368-452B-900A-D3A44DA7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67150"/>
            <a:ext cx="271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Results and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A7740-D583-4C3C-9750-F233754C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005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A"/>
                </a:solidFill>
                <a:latin typeface="Arial"/>
                <a:ea typeface="Arial"/>
                <a:cs typeface="Arial"/>
              </a:rPr>
              <a:t>Messages and HTTP details explain what happened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DE641-2274-477E-9E3F-0C8B8A23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721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D3E1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D3E13"/>
                </a:solidFill>
                <a:latin typeface="Arial"/>
                <a:ea typeface="Arial"/>
                <a:cs typeface="Arial"/>
              </a:rPr>
              <a:t>Community reference testing</a:t>
            </a:r>
          </a:p>
        </p:txBody>
      </p:sp>
    </p:spTree>
    <p:extLst>
      <p:ext uri="{BB962C8B-B14F-4D97-AF65-F5344CB8AC3E}">
        <p14:creationId xmlns:p14="http://schemas.microsoft.com/office/powerpoint/2010/main" val="2086343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E7F25-0865-4A9F-B1A9-2ABDCD65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241EA-DB27-4FC8-A0CF-A22FB969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3E1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3E13"/>
                </a:solidFill>
                <a:latin typeface="Arial"/>
                <a:ea typeface="Arial"/>
                <a:cs typeface="Arial"/>
              </a:rPr>
              <a:t>SPARKED FHIR 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CDE74-D138-4B9D-B25B-DB89B163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Choosing a test kit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F02AC-A05A-42BE-BFBD-B9143C38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02827-44C9-4F8A-BB04-63F92520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D3E1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9D3E13"/>
                </a:solidFill>
                <a:latin typeface="Arial"/>
                <a:ea typeface="Arial"/>
                <a:cs typeface="Arial"/>
              </a:rPr>
              <a:t>AU Patient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6907F-6886-4965-82E5-880A28C0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You have a patient summary Bundle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3712D-D273-4D30-83CB-09C1DC75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16A"/>
                </a:solidFill>
                <a:latin typeface="Arial"/>
                <a:ea typeface="Arial"/>
                <a:cs typeface="Arial"/>
              </a:rPr>
              <a:t>The kit can test a Bundle directly, retrieve one from a server, or ask a server to generate 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71B40-BD1D-426F-AA95-6A60A63D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D3E1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9D3E13"/>
                </a:solidFill>
                <a:latin typeface="Arial"/>
                <a:ea typeface="Arial"/>
                <a:cs typeface="Arial"/>
              </a:rPr>
              <a:t>AU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86C9B-1A17-4D45-BD56-8CE67D0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You operate a FHIR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B8BD3-F32A-4778-B815-07E24E26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191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16A"/>
                </a:solidFill>
                <a:latin typeface="Arial"/>
                <a:ea typeface="Arial"/>
                <a:cs typeface="Arial"/>
              </a:rPr>
              <a:t>The kit sends the required searches, validates returned resources, and records the HTTP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2CCE6-4CE3-446C-B9DF-9BF8D15A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Choose the version that matches your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657510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17ED7-A79A-4751-BE22-6FA9B05B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FC0F4-09A3-408E-94E8-6870B95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3E1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3E13"/>
                </a:solidFill>
                <a:latin typeface="Arial"/>
                <a:ea typeface="Arial"/>
                <a:cs typeface="Arial"/>
              </a:rPr>
              <a:t>SPARKED FHIR 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CFB19-4E35-475C-B384-C1FBFACD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A useful first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A6961-2F00-4B7B-B2CF-3BFF08A9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49A04-4B38-4248-9964-82DDD3E7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8CBDB-21E2-4556-A8ED-F7ABFB3D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4287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Small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95178-8C0C-48AB-9D4E-1806ECEE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16A"/>
                </a:solidFill>
                <a:latin typeface="Arial"/>
                <a:ea typeface="Arial"/>
                <a:cs typeface="Arial"/>
              </a:rPr>
              <a:t>Choose one relevant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09CFB-236A-4B0B-A9A4-F63454BA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A0C16-21EE-4B95-B52B-EC26930F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CC675-7813-4172-B183-67197051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2A68E-B536-4E8D-A0E6-8A63C864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24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Synthetic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211DE-EBCC-4DC4-A01E-56350714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16A"/>
                </a:solidFill>
                <a:latin typeface="Arial"/>
                <a:ea typeface="Arial"/>
                <a:cs typeface="Arial"/>
              </a:rPr>
              <a:t>Keep personal and health information off the public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C6CE9-E2A4-47CF-A587-E7FB1DC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992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6C36C-223E-4F01-8C6A-9E8AD2E1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8C5A1-6E26-4A67-BD07-809A660A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7685F-7BF5-459E-BCE2-0E06CA3E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19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First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EDB10-2529-4336-850C-BE5E4B6A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16A"/>
                </a:solidFill>
                <a:latin typeface="Arial"/>
                <a:ea typeface="Arial"/>
                <a:cs typeface="Arial"/>
              </a:rPr>
              <a:t>Read Messages or Requests before downstream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4F419-33E3-43B5-96EF-38D6E973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053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9C1A5-0F45-4D43-8A71-F1AA360A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3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7F624-3E37-476E-97F8-C0D0EB91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61D13-326E-48A6-A263-2BDEE7E8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148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394AF-246D-4EAA-8496-2D761FA4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4875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16A"/>
                </a:solidFill>
                <a:latin typeface="Arial"/>
                <a:ea typeface="Arial"/>
                <a:cs typeface="Arial"/>
              </a:rPr>
              <a:t>Confirm the result changes after the fix</a:t>
            </a:r>
          </a:p>
        </p:txBody>
      </p:sp>
    </p:spTree>
    <p:extLst>
      <p:ext uri="{BB962C8B-B14F-4D97-AF65-F5344CB8AC3E}">
        <p14:creationId xmlns:p14="http://schemas.microsoft.com/office/powerpoint/2010/main" val="6260613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3735029f8439a"/>
          <a:srcRect xmlns:a="http://schemas.openxmlformats.org/drawingml/2006/main" l="80" t="0" r="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C26BE-9D55-4DCF-BF13-B8A22A47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D275F-5058-4558-BCD5-44220DB8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SPARKED FHIR AU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BF3D5-014A-4AEE-99F7-AC9B4550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first Inferno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7D5F2-C846-498B-A5AC-79E85451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the right kit and 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ECE92-620F-4A0E-AC9E-AAAB4923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synthetic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946DA-3C3A-414C-B6B5-E9E13B59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with one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83EBB-56EB-47D2-A53D-EB4165FA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 the session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09642-8A78-4F39-96B8-F5EF223B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8A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8A4A"/>
                </a:solidFill>
                <a:latin typeface="Arial"/>
                <a:ea typeface="Arial"/>
                <a:cs typeface="Arial"/>
              </a:rPr>
              <a:t>inferno.hl7.org.au/guidance/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b245fa33c4c34"/>
          <a:stretch xmlns:a="http://schemas.openxmlformats.org/drawingml/2006/main"/>
        </p:blipFill>
        <p:spPr>
          <a:xfrm xmlns:a="http://schemas.openxmlformats.org/drawingml/2006/main">
            <a:off x="8334375" y="1285875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1BC16-1767-4E85-B17F-3ECD02EE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624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EF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EFD8"/>
                </a:solidFill>
                <a:latin typeface="Arial"/>
                <a:ea typeface="Arial"/>
                <a:cs typeface="Arial"/>
              </a:rPr>
              <a:t>Next: AU Patient Summary and AU Core walkthroughs</a:t>
            </a:r>
          </a:p>
        </p:txBody>
      </p:sp>
    </p:spTree>
    <p:extLst>
      <p:ext uri="{BB962C8B-B14F-4D97-AF65-F5344CB8AC3E}">
        <p14:creationId xmlns:p14="http://schemas.microsoft.com/office/powerpoint/2010/main" val="750110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2026-09-11T06:16:19.7330000Z</dcterms:created>
  <dcterms:modified xsi:type="dcterms:W3CDTF">2026-09-11T06:16:19.7330000Z</dcterms:modified>
</coreProperties>
</file>